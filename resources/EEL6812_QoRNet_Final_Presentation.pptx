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  <p:sldMasterId id="2147483795" r:id="rId2"/>
  </p:sldMasterIdLst>
  <p:notesMasterIdLst>
    <p:notesMasterId r:id="rId20"/>
  </p:notesMasterIdLst>
  <p:sldIdLst>
    <p:sldId id="279" r:id="rId3"/>
    <p:sldId id="326" r:id="rId4"/>
    <p:sldId id="327" r:id="rId5"/>
    <p:sldId id="348" r:id="rId6"/>
    <p:sldId id="329" r:id="rId7"/>
    <p:sldId id="330" r:id="rId8"/>
    <p:sldId id="347" r:id="rId9"/>
    <p:sldId id="333" r:id="rId10"/>
    <p:sldId id="339" r:id="rId11"/>
    <p:sldId id="345" r:id="rId12"/>
    <p:sldId id="332" r:id="rId13"/>
    <p:sldId id="342" r:id="rId14"/>
    <p:sldId id="346" r:id="rId15"/>
    <p:sldId id="334" r:id="rId16"/>
    <p:sldId id="335" r:id="rId17"/>
    <p:sldId id="340" r:id="rId18"/>
    <p:sldId id="3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F9C423"/>
    <a:srgbClr val="EEBD20"/>
    <a:srgbClr val="FFD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976"/>
    <p:restoredTop sz="89923"/>
  </p:normalViewPr>
  <p:slideViewPr>
    <p:cSldViewPr snapToGrid="0">
      <p:cViewPr>
        <p:scale>
          <a:sx n="71" d="100"/>
          <a:sy n="71" d="100"/>
        </p:scale>
        <p:origin x="3304" y="1288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97D5EA-E742-3542-BC49-A16DE36568C9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9C6E7C-1CFF-F649-A63F-7FD80A092F77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Early Prediction </a:t>
          </a:r>
        </a:p>
      </dgm:t>
    </dgm:pt>
    <dgm:pt modelId="{8C33EBCA-9E87-DE42-9CE0-F515004DEC3B}" type="parTrans" cxnId="{D7DE5975-9EBD-2642-8367-A3CCEDDC8C84}">
      <dgm:prSet/>
      <dgm:spPr/>
      <dgm:t>
        <a:bodyPr/>
        <a:lstStyle/>
        <a:p>
          <a:endParaRPr lang="en-US" sz="1600"/>
        </a:p>
      </dgm:t>
    </dgm:pt>
    <dgm:pt modelId="{A365CE15-92FD-E241-AF32-CBE5C7E7DA2E}" type="sibTrans" cxnId="{D7DE5975-9EBD-2642-8367-A3CCEDDC8C84}">
      <dgm:prSet/>
      <dgm:spPr/>
      <dgm:t>
        <a:bodyPr/>
        <a:lstStyle/>
        <a:p>
          <a:endParaRPr lang="en-US" sz="1600"/>
        </a:p>
      </dgm:t>
    </dgm:pt>
    <dgm:pt modelId="{5B2F34DD-77F4-2144-BB4F-42BA3965A011}">
      <dgm:prSet phldrT="[Text]" custT="1"/>
      <dgm:spPr/>
      <dgm:t>
        <a:bodyPr/>
        <a:lstStyle/>
        <a:p>
          <a:r>
            <a:rPr lang="en-US" sz="1600" b="1">
              <a:solidFill>
                <a:srgbClr val="FF0000"/>
              </a:solidFill>
            </a:rPr>
            <a:t>Problem</a:t>
          </a:r>
          <a:r>
            <a:rPr lang="en-US" sz="1600"/>
            <a:t>: Early-stage predictions (</a:t>
          </a:r>
          <a:r>
            <a:rPr lang="en-US" sz="1600" err="1"/>
            <a:t>OpenABC</a:t>
          </a:r>
          <a:r>
            <a:rPr lang="en-US" sz="1600"/>
            <a:t>-D, SNS) are inaccurate to physical timing effects</a:t>
          </a:r>
        </a:p>
      </dgm:t>
    </dgm:pt>
    <dgm:pt modelId="{30E085B8-A71B-694E-B948-99E9E08B7CAF}" type="parTrans" cxnId="{9A97B870-344A-7742-913F-1C1C3428391E}">
      <dgm:prSet/>
      <dgm:spPr/>
      <dgm:t>
        <a:bodyPr/>
        <a:lstStyle/>
        <a:p>
          <a:endParaRPr lang="en-US" sz="1600"/>
        </a:p>
      </dgm:t>
    </dgm:pt>
    <dgm:pt modelId="{AFFD4A8A-BC29-8347-8614-6C976D06B2EF}" type="sibTrans" cxnId="{9A97B870-344A-7742-913F-1C1C3428391E}">
      <dgm:prSet/>
      <dgm:spPr/>
      <dgm:t>
        <a:bodyPr/>
        <a:lstStyle/>
        <a:p>
          <a:endParaRPr lang="en-US" sz="1600"/>
        </a:p>
      </dgm:t>
    </dgm:pt>
    <dgm:pt modelId="{5B748D7E-A114-B04F-86BC-4CF34CDBBE0D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Structural Compression</a:t>
          </a:r>
        </a:p>
      </dgm:t>
    </dgm:pt>
    <dgm:pt modelId="{E278F904-0250-7445-8E39-A0F28F3E41D4}" type="parTrans" cxnId="{F937510F-439D-EB4B-A7B2-8479E2CF6A07}">
      <dgm:prSet/>
      <dgm:spPr/>
      <dgm:t>
        <a:bodyPr/>
        <a:lstStyle/>
        <a:p>
          <a:endParaRPr lang="en-US" sz="1600"/>
        </a:p>
      </dgm:t>
    </dgm:pt>
    <dgm:pt modelId="{1CDF4371-65B7-E64B-A6CD-046290A4D647}" type="sibTrans" cxnId="{F937510F-439D-EB4B-A7B2-8479E2CF6A07}">
      <dgm:prSet/>
      <dgm:spPr/>
      <dgm:t>
        <a:bodyPr/>
        <a:lstStyle/>
        <a:p>
          <a:endParaRPr lang="en-US" sz="1600"/>
        </a:p>
      </dgm:t>
    </dgm:pt>
    <dgm:pt modelId="{A3B377D6-4069-3D42-84BB-4664EA757361}">
      <dgm:prSet phldrT="[Text]" custT="1"/>
      <dgm:spPr/>
      <dgm:t>
        <a:bodyPr/>
        <a:lstStyle/>
        <a:p>
          <a:r>
            <a:rPr lang="en-US" sz="1600" b="1">
              <a:solidFill>
                <a:srgbClr val="FF0000"/>
              </a:solidFill>
            </a:rPr>
            <a:t>Problem</a:t>
          </a:r>
          <a:r>
            <a:rPr lang="en-US" sz="1600"/>
            <a:t>: Path-based models (SNS) can capture local timing paths but miss global node interactions</a:t>
          </a:r>
        </a:p>
      </dgm:t>
    </dgm:pt>
    <dgm:pt modelId="{7306496D-8BD7-1142-892E-5FF12348991E}" type="parTrans" cxnId="{00E0C043-F4B3-D24F-BFA5-FC1AA1432958}">
      <dgm:prSet/>
      <dgm:spPr/>
      <dgm:t>
        <a:bodyPr/>
        <a:lstStyle/>
        <a:p>
          <a:endParaRPr lang="en-US" sz="1600"/>
        </a:p>
      </dgm:t>
    </dgm:pt>
    <dgm:pt modelId="{D1F4EB93-D016-794E-8F9E-DF598C7E7B14}" type="sibTrans" cxnId="{00E0C043-F4B3-D24F-BFA5-FC1AA1432958}">
      <dgm:prSet/>
      <dgm:spPr/>
      <dgm:t>
        <a:bodyPr/>
        <a:lstStyle/>
        <a:p>
          <a:endParaRPr lang="en-US" sz="1600"/>
        </a:p>
      </dgm:t>
    </dgm:pt>
    <dgm:pt modelId="{32A178A8-1B5D-6A4B-9EF1-BCF87391696F}">
      <dgm:prSet phldrT="[Text]" custT="1"/>
      <dgm:spPr/>
      <dgm:t>
        <a:bodyPr/>
        <a:lstStyle/>
        <a:p>
          <a:r>
            <a:rPr lang="en-US" sz="1600" b="1">
              <a:solidFill>
                <a:schemeClr val="tx1"/>
              </a:solidFill>
            </a:rPr>
            <a:t>Small, Generic Datasets</a:t>
          </a:r>
        </a:p>
      </dgm:t>
    </dgm:pt>
    <dgm:pt modelId="{40291A67-13F7-AF42-876E-B5F45A9BB44D}" type="parTrans" cxnId="{54462584-0195-C845-B0BE-7D637668FD80}">
      <dgm:prSet/>
      <dgm:spPr/>
      <dgm:t>
        <a:bodyPr/>
        <a:lstStyle/>
        <a:p>
          <a:endParaRPr lang="en-US" sz="1600"/>
        </a:p>
      </dgm:t>
    </dgm:pt>
    <dgm:pt modelId="{3EC9814A-1D4C-9947-9590-C27DB07695C8}" type="sibTrans" cxnId="{54462584-0195-C845-B0BE-7D637668FD80}">
      <dgm:prSet/>
      <dgm:spPr/>
      <dgm:t>
        <a:bodyPr/>
        <a:lstStyle/>
        <a:p>
          <a:endParaRPr lang="en-US" sz="1600"/>
        </a:p>
      </dgm:t>
    </dgm:pt>
    <dgm:pt modelId="{0B583115-181D-0046-89FD-2B39852EE54E}">
      <dgm:prSet phldrT="[Text]" custT="1"/>
      <dgm:spPr/>
      <dgm:t>
        <a:bodyPr/>
        <a:lstStyle/>
        <a:p>
          <a:r>
            <a:rPr lang="en-US" sz="1600" b="1">
              <a:solidFill>
                <a:srgbClr val="FF0000"/>
              </a:solidFill>
            </a:rPr>
            <a:t>Problem</a:t>
          </a:r>
          <a:r>
            <a:rPr lang="en-US" sz="1600"/>
            <a:t>: All papers rely on methods of synthetically generating training data (EDA recipes, GANs) due to limited availability</a:t>
          </a:r>
        </a:p>
      </dgm:t>
    </dgm:pt>
    <dgm:pt modelId="{B5C7E5BF-C418-CB42-89D6-94458A94A412}" type="parTrans" cxnId="{3CCEA523-B76D-A944-A7F8-8A5777C784C2}">
      <dgm:prSet/>
      <dgm:spPr/>
      <dgm:t>
        <a:bodyPr/>
        <a:lstStyle/>
        <a:p>
          <a:endParaRPr lang="en-US" sz="1600"/>
        </a:p>
      </dgm:t>
    </dgm:pt>
    <dgm:pt modelId="{872DA88E-7F3C-814C-BD5B-35F2140D0C3E}" type="sibTrans" cxnId="{3CCEA523-B76D-A944-A7F8-8A5777C784C2}">
      <dgm:prSet/>
      <dgm:spPr/>
      <dgm:t>
        <a:bodyPr/>
        <a:lstStyle/>
        <a:p>
          <a:endParaRPr lang="en-US" sz="1600"/>
        </a:p>
      </dgm:t>
    </dgm:pt>
    <dgm:pt modelId="{F209122C-FA14-2343-B958-F038EE307A14}">
      <dgm:prSet phldrT="[Text]" custT="1"/>
      <dgm:spPr/>
      <dgm:t>
        <a:bodyPr/>
        <a:lstStyle/>
        <a:p>
          <a:r>
            <a:rPr lang="en-US" sz="1600" b="1">
              <a:solidFill>
                <a:srgbClr val="00B050"/>
              </a:solidFill>
            </a:rPr>
            <a:t>Solution</a:t>
          </a:r>
          <a:r>
            <a:rPr lang="en-US" sz="1600"/>
            <a:t>: In addition to recipes (“How Good…”), use component generators to produce many unique RTL designs</a:t>
          </a:r>
        </a:p>
      </dgm:t>
    </dgm:pt>
    <dgm:pt modelId="{BCE40AA3-9991-654C-A050-A4794896DB59}" type="parTrans" cxnId="{CE1CE771-3092-DB4D-8644-2A1F6755D7CF}">
      <dgm:prSet/>
      <dgm:spPr/>
      <dgm:t>
        <a:bodyPr/>
        <a:lstStyle/>
        <a:p>
          <a:endParaRPr lang="en-US" sz="1600"/>
        </a:p>
      </dgm:t>
    </dgm:pt>
    <dgm:pt modelId="{85822014-BDFE-BB4E-B9F1-7F04A4F1D714}" type="sibTrans" cxnId="{CE1CE771-3092-DB4D-8644-2A1F6755D7CF}">
      <dgm:prSet/>
      <dgm:spPr/>
      <dgm:t>
        <a:bodyPr/>
        <a:lstStyle/>
        <a:p>
          <a:endParaRPr lang="en-US" sz="1600"/>
        </a:p>
      </dgm:t>
    </dgm:pt>
    <dgm:pt modelId="{1FE13395-9C0F-BB42-83CC-F74B59D444B9}">
      <dgm:prSet phldrT="[Text]" custT="1"/>
      <dgm:spPr/>
      <dgm:t>
        <a:bodyPr/>
        <a:lstStyle/>
        <a:p>
          <a:r>
            <a:rPr lang="en-US" sz="1600"/>
            <a:t>Leads to </a:t>
          </a:r>
          <a:r>
            <a:rPr lang="en-US" sz="1600" b="0"/>
            <a:t>under-modeling</a:t>
          </a:r>
          <a:r>
            <a:rPr lang="en-US" sz="1600"/>
            <a:t> of WNS/TNS paths</a:t>
          </a:r>
        </a:p>
      </dgm:t>
    </dgm:pt>
    <dgm:pt modelId="{9BB67284-44E8-264E-9C70-F725337511EB}" type="parTrans" cxnId="{DA3899D5-7CCE-2E44-8223-48FFD56B816A}">
      <dgm:prSet/>
      <dgm:spPr/>
      <dgm:t>
        <a:bodyPr/>
        <a:lstStyle/>
        <a:p>
          <a:endParaRPr lang="en-US" sz="1600"/>
        </a:p>
      </dgm:t>
    </dgm:pt>
    <dgm:pt modelId="{F32F984F-CBA5-A849-B443-1B3386EA6868}" type="sibTrans" cxnId="{DA3899D5-7CCE-2E44-8223-48FFD56B816A}">
      <dgm:prSet/>
      <dgm:spPr/>
      <dgm:t>
        <a:bodyPr/>
        <a:lstStyle/>
        <a:p>
          <a:endParaRPr lang="en-US" sz="1600"/>
        </a:p>
      </dgm:t>
    </dgm:pt>
    <dgm:pt modelId="{FDB0584E-9915-0A49-A0A2-C079BAB27900}">
      <dgm:prSet phldrT="[Text]" custT="1"/>
      <dgm:spPr/>
      <dgm:t>
        <a:bodyPr/>
        <a:lstStyle/>
        <a:p>
          <a:r>
            <a:rPr lang="en-US" sz="1600" b="1">
              <a:solidFill>
                <a:srgbClr val="00B050"/>
              </a:solidFill>
            </a:rPr>
            <a:t>Solution</a:t>
          </a:r>
          <a:r>
            <a:rPr lang="en-US" sz="1600"/>
            <a:t>: train on post-placement-and-routing timing information</a:t>
          </a:r>
        </a:p>
      </dgm:t>
    </dgm:pt>
    <dgm:pt modelId="{9F680D30-F647-F947-9BE3-DFF95284EA92}" type="parTrans" cxnId="{ADC83F7C-8A0F-6043-BC6D-700C4D8BB9AB}">
      <dgm:prSet/>
      <dgm:spPr/>
      <dgm:t>
        <a:bodyPr/>
        <a:lstStyle/>
        <a:p>
          <a:endParaRPr lang="en-US" sz="1600"/>
        </a:p>
      </dgm:t>
    </dgm:pt>
    <dgm:pt modelId="{0D431F1B-C955-2146-9830-75C507E57EE4}" type="sibTrans" cxnId="{ADC83F7C-8A0F-6043-BC6D-700C4D8BB9AB}">
      <dgm:prSet/>
      <dgm:spPr/>
      <dgm:t>
        <a:bodyPr/>
        <a:lstStyle/>
        <a:p>
          <a:endParaRPr lang="en-US" sz="1600"/>
        </a:p>
      </dgm:t>
    </dgm:pt>
    <dgm:pt modelId="{4FDB4388-A451-2A45-933B-8004F3A8CA1C}">
      <dgm:prSet phldrT="[Text]" custT="1"/>
      <dgm:spPr/>
      <dgm:t>
        <a:bodyPr/>
        <a:lstStyle/>
        <a:p>
          <a:r>
            <a:rPr lang="en-US" sz="1600" b="1">
              <a:solidFill>
                <a:srgbClr val="00B050"/>
              </a:solidFill>
            </a:rPr>
            <a:t>Solution</a:t>
          </a:r>
          <a:r>
            <a:rPr lang="en-US" sz="1600"/>
            <a:t>: attention-based full-graph regression</a:t>
          </a:r>
        </a:p>
      </dgm:t>
    </dgm:pt>
    <dgm:pt modelId="{46E06F70-76C9-F743-A834-937B76EDC54A}" type="parTrans" cxnId="{C0E8BEBC-C81B-2246-95C0-420D0D706B23}">
      <dgm:prSet/>
      <dgm:spPr/>
      <dgm:t>
        <a:bodyPr/>
        <a:lstStyle/>
        <a:p>
          <a:endParaRPr lang="en-US" sz="1600"/>
        </a:p>
      </dgm:t>
    </dgm:pt>
    <dgm:pt modelId="{FF454FDD-F184-5449-8D23-D3B90B8F2D97}" type="sibTrans" cxnId="{C0E8BEBC-C81B-2246-95C0-420D0D706B23}">
      <dgm:prSet/>
      <dgm:spPr/>
      <dgm:t>
        <a:bodyPr/>
        <a:lstStyle/>
        <a:p>
          <a:endParaRPr lang="en-US" sz="1600"/>
        </a:p>
      </dgm:t>
    </dgm:pt>
    <dgm:pt modelId="{C5F679D7-A7D3-3C41-A76B-55EED1B5004F}">
      <dgm:prSet phldrT="[Text]" custT="1"/>
      <dgm:spPr/>
      <dgm:t>
        <a:bodyPr/>
        <a:lstStyle/>
        <a:p>
          <a:r>
            <a:rPr lang="en-US" sz="1600"/>
            <a:t>No cell placement or routing information, ±60% accuracy [8]</a:t>
          </a:r>
        </a:p>
      </dgm:t>
    </dgm:pt>
    <dgm:pt modelId="{5F41DEB6-3249-C344-8665-F8550D0494D2}" type="parTrans" cxnId="{6E711CA7-6794-AB44-BA44-50081969CD78}">
      <dgm:prSet/>
      <dgm:spPr/>
      <dgm:t>
        <a:bodyPr/>
        <a:lstStyle/>
        <a:p>
          <a:endParaRPr lang="en-US" sz="1600"/>
        </a:p>
      </dgm:t>
    </dgm:pt>
    <dgm:pt modelId="{318043C0-2F8B-9C45-820C-A4A7A96A7C9F}" type="sibTrans" cxnId="{6E711CA7-6794-AB44-BA44-50081969CD78}">
      <dgm:prSet/>
      <dgm:spPr/>
      <dgm:t>
        <a:bodyPr/>
        <a:lstStyle/>
        <a:p>
          <a:endParaRPr lang="en-US" sz="1600"/>
        </a:p>
      </dgm:t>
    </dgm:pt>
    <dgm:pt modelId="{1575963B-7171-AA43-8BA2-F41853BA8730}" type="pres">
      <dgm:prSet presAssocID="{C397D5EA-E742-3542-BC49-A16DE36568C9}" presName="Name0" presStyleCnt="0">
        <dgm:presLayoutVars>
          <dgm:dir/>
          <dgm:animLvl val="lvl"/>
          <dgm:resizeHandles val="exact"/>
        </dgm:presLayoutVars>
      </dgm:prSet>
      <dgm:spPr/>
    </dgm:pt>
    <dgm:pt modelId="{0E19639F-EA2B-CD48-8533-896BBBB68D22}" type="pres">
      <dgm:prSet presAssocID="{7A9C6E7C-1CFF-F649-A63F-7FD80A092F77}" presName="composite" presStyleCnt="0"/>
      <dgm:spPr/>
    </dgm:pt>
    <dgm:pt modelId="{DE3946DB-5A84-9742-9B64-755BB2C49102}" type="pres">
      <dgm:prSet presAssocID="{7A9C6E7C-1CFF-F649-A63F-7FD80A092F7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2806F8D-B255-F34A-8B91-6EB33A0ED9FD}" type="pres">
      <dgm:prSet presAssocID="{7A9C6E7C-1CFF-F649-A63F-7FD80A092F77}" presName="desTx" presStyleLbl="alignAccFollowNode1" presStyleIdx="0" presStyleCnt="3">
        <dgm:presLayoutVars>
          <dgm:bulletEnabled val="1"/>
        </dgm:presLayoutVars>
      </dgm:prSet>
      <dgm:spPr/>
    </dgm:pt>
    <dgm:pt modelId="{DD6D0E42-3B2B-AF49-9712-28EE59D7F6B4}" type="pres">
      <dgm:prSet presAssocID="{A365CE15-92FD-E241-AF32-CBE5C7E7DA2E}" presName="space" presStyleCnt="0"/>
      <dgm:spPr/>
    </dgm:pt>
    <dgm:pt modelId="{9200481F-F327-424D-B020-55C1D94A2696}" type="pres">
      <dgm:prSet presAssocID="{5B748D7E-A114-B04F-86BC-4CF34CDBBE0D}" presName="composite" presStyleCnt="0"/>
      <dgm:spPr/>
    </dgm:pt>
    <dgm:pt modelId="{6E9D41C6-382B-084F-92D1-AE11199409DB}" type="pres">
      <dgm:prSet presAssocID="{5B748D7E-A114-B04F-86BC-4CF34CDBBE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EAE32C6-949C-7149-9CE6-A3D52AE1279F}" type="pres">
      <dgm:prSet presAssocID="{5B748D7E-A114-B04F-86BC-4CF34CDBBE0D}" presName="desTx" presStyleLbl="alignAccFollowNode1" presStyleIdx="1" presStyleCnt="3">
        <dgm:presLayoutVars>
          <dgm:bulletEnabled val="1"/>
        </dgm:presLayoutVars>
      </dgm:prSet>
      <dgm:spPr/>
    </dgm:pt>
    <dgm:pt modelId="{7FDADA32-76EC-394B-A921-1885EF4D823E}" type="pres">
      <dgm:prSet presAssocID="{1CDF4371-65B7-E64B-A6CD-046290A4D647}" presName="space" presStyleCnt="0"/>
      <dgm:spPr/>
    </dgm:pt>
    <dgm:pt modelId="{AE1D2AF7-F50F-2B48-8A2C-D314BA5B1C17}" type="pres">
      <dgm:prSet presAssocID="{32A178A8-1B5D-6A4B-9EF1-BCF87391696F}" presName="composite" presStyleCnt="0"/>
      <dgm:spPr/>
    </dgm:pt>
    <dgm:pt modelId="{251D0F2C-E4B2-1F46-B03B-BA4826015D86}" type="pres">
      <dgm:prSet presAssocID="{32A178A8-1B5D-6A4B-9EF1-BCF87391696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EBC36A9-340A-3B44-B70D-63ADCCA1FDEC}" type="pres">
      <dgm:prSet presAssocID="{32A178A8-1B5D-6A4B-9EF1-BCF87391696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781EB02-2314-1445-908C-2D7C6B3AD3C3}" type="presOf" srcId="{F209122C-FA14-2343-B958-F038EE307A14}" destId="{4EBC36A9-340A-3B44-B70D-63ADCCA1FDEC}" srcOrd="0" destOrd="1" presId="urn:microsoft.com/office/officeart/2005/8/layout/hList1"/>
    <dgm:cxn modelId="{F937510F-439D-EB4B-A7B2-8479E2CF6A07}" srcId="{C397D5EA-E742-3542-BC49-A16DE36568C9}" destId="{5B748D7E-A114-B04F-86BC-4CF34CDBBE0D}" srcOrd="1" destOrd="0" parTransId="{E278F904-0250-7445-8E39-A0F28F3E41D4}" sibTransId="{1CDF4371-65B7-E64B-A6CD-046290A4D647}"/>
    <dgm:cxn modelId="{3BCA2120-BDD7-F346-BDA6-DF08A8D8DB19}" type="presOf" srcId="{C397D5EA-E742-3542-BC49-A16DE36568C9}" destId="{1575963B-7171-AA43-8BA2-F41853BA8730}" srcOrd="0" destOrd="0" presId="urn:microsoft.com/office/officeart/2005/8/layout/hList1"/>
    <dgm:cxn modelId="{3CCEA523-B76D-A944-A7F8-8A5777C784C2}" srcId="{32A178A8-1B5D-6A4B-9EF1-BCF87391696F}" destId="{0B583115-181D-0046-89FD-2B39852EE54E}" srcOrd="0" destOrd="0" parTransId="{B5C7E5BF-C418-CB42-89D6-94458A94A412}" sibTransId="{872DA88E-7F3C-814C-BD5B-35F2140D0C3E}"/>
    <dgm:cxn modelId="{55161F30-8E59-C148-AD82-23A796000701}" type="presOf" srcId="{1FE13395-9C0F-BB42-83CC-F74B59D444B9}" destId="{CEAE32C6-949C-7149-9CE6-A3D52AE1279F}" srcOrd="0" destOrd="1" presId="urn:microsoft.com/office/officeart/2005/8/layout/hList1"/>
    <dgm:cxn modelId="{00E0C043-F4B3-D24F-BFA5-FC1AA1432958}" srcId="{5B748D7E-A114-B04F-86BC-4CF34CDBBE0D}" destId="{A3B377D6-4069-3D42-84BB-4664EA757361}" srcOrd="0" destOrd="0" parTransId="{7306496D-8BD7-1142-892E-5FF12348991E}" sibTransId="{D1F4EB93-D016-794E-8F9E-DF598C7E7B14}"/>
    <dgm:cxn modelId="{F8D1ED49-D2BF-6347-BB66-EDDD2491D880}" type="presOf" srcId="{FDB0584E-9915-0A49-A0A2-C079BAB27900}" destId="{62806F8D-B255-F34A-8B91-6EB33A0ED9FD}" srcOrd="0" destOrd="2" presId="urn:microsoft.com/office/officeart/2005/8/layout/hList1"/>
    <dgm:cxn modelId="{3042084D-64A5-3345-AACC-FE6071BB507E}" type="presOf" srcId="{5B748D7E-A114-B04F-86BC-4CF34CDBBE0D}" destId="{6E9D41C6-382B-084F-92D1-AE11199409DB}" srcOrd="0" destOrd="0" presId="urn:microsoft.com/office/officeart/2005/8/layout/hList1"/>
    <dgm:cxn modelId="{14200D50-F848-EF40-84DA-4B5C93165DC2}" type="presOf" srcId="{32A178A8-1B5D-6A4B-9EF1-BCF87391696F}" destId="{251D0F2C-E4B2-1F46-B03B-BA4826015D86}" srcOrd="0" destOrd="0" presId="urn:microsoft.com/office/officeart/2005/8/layout/hList1"/>
    <dgm:cxn modelId="{47EECF5B-D7F1-4A4E-8400-6EB9F3CB699E}" type="presOf" srcId="{0B583115-181D-0046-89FD-2B39852EE54E}" destId="{4EBC36A9-340A-3B44-B70D-63ADCCA1FDEC}" srcOrd="0" destOrd="0" presId="urn:microsoft.com/office/officeart/2005/8/layout/hList1"/>
    <dgm:cxn modelId="{9A97B870-344A-7742-913F-1C1C3428391E}" srcId="{7A9C6E7C-1CFF-F649-A63F-7FD80A092F77}" destId="{5B2F34DD-77F4-2144-BB4F-42BA3965A011}" srcOrd="0" destOrd="0" parTransId="{30E085B8-A71B-694E-B948-99E9E08B7CAF}" sibTransId="{AFFD4A8A-BC29-8347-8614-6C976D06B2EF}"/>
    <dgm:cxn modelId="{CE1CE771-3092-DB4D-8644-2A1F6755D7CF}" srcId="{32A178A8-1B5D-6A4B-9EF1-BCF87391696F}" destId="{F209122C-FA14-2343-B958-F038EE307A14}" srcOrd="1" destOrd="0" parTransId="{BCE40AA3-9991-654C-A050-A4794896DB59}" sibTransId="{85822014-BDFE-BB4E-B9F1-7F04A4F1D714}"/>
    <dgm:cxn modelId="{D7DE5975-9EBD-2642-8367-A3CCEDDC8C84}" srcId="{C397D5EA-E742-3542-BC49-A16DE36568C9}" destId="{7A9C6E7C-1CFF-F649-A63F-7FD80A092F77}" srcOrd="0" destOrd="0" parTransId="{8C33EBCA-9E87-DE42-9CE0-F515004DEC3B}" sibTransId="{A365CE15-92FD-E241-AF32-CBE5C7E7DA2E}"/>
    <dgm:cxn modelId="{ADC83F7C-8A0F-6043-BC6D-700C4D8BB9AB}" srcId="{7A9C6E7C-1CFF-F649-A63F-7FD80A092F77}" destId="{FDB0584E-9915-0A49-A0A2-C079BAB27900}" srcOrd="1" destOrd="0" parTransId="{9F680D30-F647-F947-9BE3-DFF95284EA92}" sibTransId="{0D431F1B-C955-2146-9830-75C507E57EE4}"/>
    <dgm:cxn modelId="{54462584-0195-C845-B0BE-7D637668FD80}" srcId="{C397D5EA-E742-3542-BC49-A16DE36568C9}" destId="{32A178A8-1B5D-6A4B-9EF1-BCF87391696F}" srcOrd="2" destOrd="0" parTransId="{40291A67-13F7-AF42-876E-B5F45A9BB44D}" sibTransId="{3EC9814A-1D4C-9947-9590-C27DB07695C8}"/>
    <dgm:cxn modelId="{E69C2F94-E13C-DE41-9D82-10B395ABE7F7}" type="presOf" srcId="{A3B377D6-4069-3D42-84BB-4664EA757361}" destId="{CEAE32C6-949C-7149-9CE6-A3D52AE1279F}" srcOrd="0" destOrd="0" presId="urn:microsoft.com/office/officeart/2005/8/layout/hList1"/>
    <dgm:cxn modelId="{6E711CA7-6794-AB44-BA44-50081969CD78}" srcId="{5B2F34DD-77F4-2144-BB4F-42BA3965A011}" destId="{C5F679D7-A7D3-3C41-A76B-55EED1B5004F}" srcOrd="0" destOrd="0" parTransId="{5F41DEB6-3249-C344-8665-F8550D0494D2}" sibTransId="{318043C0-2F8B-9C45-820C-A4A7A96A7C9F}"/>
    <dgm:cxn modelId="{529DCAAE-37A1-2642-B9C5-703A36D81BA4}" type="presOf" srcId="{4FDB4388-A451-2A45-933B-8004F3A8CA1C}" destId="{CEAE32C6-949C-7149-9CE6-A3D52AE1279F}" srcOrd="0" destOrd="2" presId="urn:microsoft.com/office/officeart/2005/8/layout/hList1"/>
    <dgm:cxn modelId="{5A5FF5B0-DF1F-2E4F-B71E-DC4368482A06}" type="presOf" srcId="{C5F679D7-A7D3-3C41-A76B-55EED1B5004F}" destId="{62806F8D-B255-F34A-8B91-6EB33A0ED9FD}" srcOrd="0" destOrd="1" presId="urn:microsoft.com/office/officeart/2005/8/layout/hList1"/>
    <dgm:cxn modelId="{C0E8BEBC-C81B-2246-95C0-420D0D706B23}" srcId="{5B748D7E-A114-B04F-86BC-4CF34CDBBE0D}" destId="{4FDB4388-A451-2A45-933B-8004F3A8CA1C}" srcOrd="2" destOrd="0" parTransId="{46E06F70-76C9-F743-A834-937B76EDC54A}" sibTransId="{FF454FDD-F184-5449-8D23-D3B90B8F2D97}"/>
    <dgm:cxn modelId="{473202C6-300A-C943-9087-74975FD90593}" type="presOf" srcId="{7A9C6E7C-1CFF-F649-A63F-7FD80A092F77}" destId="{DE3946DB-5A84-9742-9B64-755BB2C49102}" srcOrd="0" destOrd="0" presId="urn:microsoft.com/office/officeart/2005/8/layout/hList1"/>
    <dgm:cxn modelId="{DA3899D5-7CCE-2E44-8223-48FFD56B816A}" srcId="{5B748D7E-A114-B04F-86BC-4CF34CDBBE0D}" destId="{1FE13395-9C0F-BB42-83CC-F74B59D444B9}" srcOrd="1" destOrd="0" parTransId="{9BB67284-44E8-264E-9C70-F725337511EB}" sibTransId="{F32F984F-CBA5-A849-B443-1B3386EA6868}"/>
    <dgm:cxn modelId="{CEDD4AEF-C40E-BB48-BED8-74A0762D50C8}" type="presOf" srcId="{5B2F34DD-77F4-2144-BB4F-42BA3965A011}" destId="{62806F8D-B255-F34A-8B91-6EB33A0ED9FD}" srcOrd="0" destOrd="0" presId="urn:microsoft.com/office/officeart/2005/8/layout/hList1"/>
    <dgm:cxn modelId="{A8855073-5652-364D-BA08-E85C9F183AA9}" type="presParOf" srcId="{1575963B-7171-AA43-8BA2-F41853BA8730}" destId="{0E19639F-EA2B-CD48-8533-896BBBB68D22}" srcOrd="0" destOrd="0" presId="urn:microsoft.com/office/officeart/2005/8/layout/hList1"/>
    <dgm:cxn modelId="{ECE2D5D6-E158-FF4F-AC9E-8E381CA78152}" type="presParOf" srcId="{0E19639F-EA2B-CD48-8533-896BBBB68D22}" destId="{DE3946DB-5A84-9742-9B64-755BB2C49102}" srcOrd="0" destOrd="0" presId="urn:microsoft.com/office/officeart/2005/8/layout/hList1"/>
    <dgm:cxn modelId="{D082797E-7CF9-2146-94FC-FAE3E970EC54}" type="presParOf" srcId="{0E19639F-EA2B-CD48-8533-896BBBB68D22}" destId="{62806F8D-B255-F34A-8B91-6EB33A0ED9FD}" srcOrd="1" destOrd="0" presId="urn:microsoft.com/office/officeart/2005/8/layout/hList1"/>
    <dgm:cxn modelId="{5DFFF3FD-F40C-A34E-9EEE-D1892EDCDC25}" type="presParOf" srcId="{1575963B-7171-AA43-8BA2-F41853BA8730}" destId="{DD6D0E42-3B2B-AF49-9712-28EE59D7F6B4}" srcOrd="1" destOrd="0" presId="urn:microsoft.com/office/officeart/2005/8/layout/hList1"/>
    <dgm:cxn modelId="{CC294C47-41E4-6B45-909B-8D63D4E30AC1}" type="presParOf" srcId="{1575963B-7171-AA43-8BA2-F41853BA8730}" destId="{9200481F-F327-424D-B020-55C1D94A2696}" srcOrd="2" destOrd="0" presId="urn:microsoft.com/office/officeart/2005/8/layout/hList1"/>
    <dgm:cxn modelId="{DCD0CC8A-5C62-474C-B67E-4D869EB952A0}" type="presParOf" srcId="{9200481F-F327-424D-B020-55C1D94A2696}" destId="{6E9D41C6-382B-084F-92D1-AE11199409DB}" srcOrd="0" destOrd="0" presId="urn:microsoft.com/office/officeart/2005/8/layout/hList1"/>
    <dgm:cxn modelId="{C510D889-F173-A349-9BCA-8A0126D8F2D8}" type="presParOf" srcId="{9200481F-F327-424D-B020-55C1D94A2696}" destId="{CEAE32C6-949C-7149-9CE6-A3D52AE1279F}" srcOrd="1" destOrd="0" presId="urn:microsoft.com/office/officeart/2005/8/layout/hList1"/>
    <dgm:cxn modelId="{44B19DC8-85FB-AD45-AB2C-48020B5AA950}" type="presParOf" srcId="{1575963B-7171-AA43-8BA2-F41853BA8730}" destId="{7FDADA32-76EC-394B-A921-1885EF4D823E}" srcOrd="3" destOrd="0" presId="urn:microsoft.com/office/officeart/2005/8/layout/hList1"/>
    <dgm:cxn modelId="{1BD7FE29-07E2-5946-9D75-4E72C57460D4}" type="presParOf" srcId="{1575963B-7171-AA43-8BA2-F41853BA8730}" destId="{AE1D2AF7-F50F-2B48-8A2C-D314BA5B1C17}" srcOrd="4" destOrd="0" presId="urn:microsoft.com/office/officeart/2005/8/layout/hList1"/>
    <dgm:cxn modelId="{0C67EA20-F266-A440-B481-88E5AD59D364}" type="presParOf" srcId="{AE1D2AF7-F50F-2B48-8A2C-D314BA5B1C17}" destId="{251D0F2C-E4B2-1F46-B03B-BA4826015D86}" srcOrd="0" destOrd="0" presId="urn:microsoft.com/office/officeart/2005/8/layout/hList1"/>
    <dgm:cxn modelId="{85B13067-6147-7948-A351-45B86E401EBB}" type="presParOf" srcId="{AE1D2AF7-F50F-2B48-8A2C-D314BA5B1C17}" destId="{4EBC36A9-340A-3B44-B70D-63ADCCA1FDE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704742-0E03-0E47-A20F-3ECA4EEA3B8D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5079E9-4AA2-2942-97EC-A5C410E4D7FB}">
      <dgm:prSet phldrT="[Text]" custT="1"/>
      <dgm:spPr/>
      <dgm:t>
        <a:bodyPr/>
        <a:lstStyle/>
        <a:p>
          <a:r>
            <a:rPr lang="en-US" sz="2000" b="1">
              <a:solidFill>
                <a:schemeClr val="tx1"/>
              </a:solidFill>
            </a:rPr>
            <a:t>RTL Feature Extraction</a:t>
          </a:r>
        </a:p>
      </dgm:t>
    </dgm:pt>
    <dgm:pt modelId="{112FC21B-6D08-D84A-8DC1-453E8936789D}" type="parTrans" cxnId="{A5C578F7-E073-3A43-83DB-BFCF22BAC84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1DDC257-236D-C847-8FE6-387FD5D29622}" type="sibTrans" cxnId="{A5C578F7-E073-3A43-83DB-BFCF22BAC84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7343392-3CB8-1548-9BB4-F688F92BDE2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err="1">
              <a:solidFill>
                <a:schemeClr val="tx1"/>
              </a:solidFill>
            </a:rPr>
            <a:t>Yosys</a:t>
          </a:r>
          <a:r>
            <a:rPr lang="en-US" sz="1800">
              <a:solidFill>
                <a:schemeClr val="tx1"/>
              </a:solidFill>
            </a:rPr>
            <a:t> generates an Abstract Syntax Tree (AST) </a:t>
          </a:r>
        </a:p>
      </dgm:t>
    </dgm:pt>
    <dgm:pt modelId="{7A152514-6006-F645-8483-07A7BC2BAC1D}" type="parTrans" cxnId="{0A3ACAF1-10D2-7A42-8C8E-1D2B103EB6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91D4A29-4E9E-AE4A-A94F-F7177ADCFAB2}" type="sibTrans" cxnId="{0A3ACAF1-10D2-7A42-8C8E-1D2B103EB6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65C75DA-C2EA-DE45-A4CE-9D64E6CDDBF9}">
      <dgm:prSet phldrT="[Text]" custT="1"/>
      <dgm:spPr/>
      <dgm:t>
        <a:bodyPr/>
        <a:lstStyle/>
        <a:p>
          <a:r>
            <a:rPr lang="en-US" sz="2000" b="1">
              <a:solidFill>
                <a:schemeClr val="tx1"/>
              </a:solidFill>
            </a:rPr>
            <a:t>Data Generation</a:t>
          </a:r>
        </a:p>
      </dgm:t>
    </dgm:pt>
    <dgm:pt modelId="{5ECCCCE5-39E3-2F49-97BF-BB55961011E4}" type="parTrans" cxnId="{98FB99CB-63DF-054C-942C-A998F475DDA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7574DAA-2986-A040-B8C2-FAC6D11965D2}" type="sibTrans" cxnId="{98FB99CB-63DF-054C-942C-A998F475DDA1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A664FC2-AFDF-0944-93E3-6BC5A54E627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err="1">
              <a:solidFill>
                <a:schemeClr val="tx1"/>
              </a:solidFill>
            </a:rPr>
            <a:t>Yosys</a:t>
          </a:r>
          <a:r>
            <a:rPr lang="en-US" sz="1800">
              <a:solidFill>
                <a:schemeClr val="tx1"/>
              </a:solidFill>
            </a:rPr>
            <a:t> for logic synthesis</a:t>
          </a:r>
        </a:p>
      </dgm:t>
    </dgm:pt>
    <dgm:pt modelId="{1F525A44-4840-1B45-BEFE-9F3AD77C0833}" type="parTrans" cxnId="{096765C4-2D86-614F-8517-965672954B4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A8385BE-5E91-5E46-BA10-7CA2960F4A9F}" type="sibTrans" cxnId="{096765C4-2D86-614F-8517-965672954B4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32F1D92-4102-6E4B-B4BF-3EC602354E1A}">
      <dgm:prSet phldrT="[Text]" custT="1"/>
      <dgm:spPr/>
      <dgm:t>
        <a:bodyPr/>
        <a:lstStyle/>
        <a:p>
          <a:r>
            <a:rPr lang="en-US" sz="2000" b="1">
              <a:solidFill>
                <a:schemeClr val="tx1"/>
              </a:solidFill>
            </a:rPr>
            <a:t>Model Training</a:t>
          </a:r>
        </a:p>
      </dgm:t>
    </dgm:pt>
    <dgm:pt modelId="{ABDE5AB4-6529-9646-8819-802797E17AAD}" type="parTrans" cxnId="{D1CBBFAC-D0AC-9146-8C61-0B2CD71DB11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5090DC7-4CC2-A948-8CC9-847E055B61DB}" type="sibTrans" cxnId="{D1CBBFAC-D0AC-9146-8C61-0B2CD71DB11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4A22C6F-F10E-AD47-AD99-E5CEF920F4F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>
              <a:solidFill>
                <a:schemeClr val="tx1"/>
              </a:solidFill>
            </a:rPr>
            <a:t>Vector-based models: linear regression and MLP</a:t>
          </a:r>
        </a:p>
      </dgm:t>
    </dgm:pt>
    <dgm:pt modelId="{BCEAADF8-FC1E-D44F-9C31-55B25C0A9824}" type="parTrans" cxnId="{51D9CDB9-B269-F144-89CF-E6A6DBC4CE1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8310E75-689C-4445-AFC5-8AF82BE33707}" type="sibTrans" cxnId="{51D9CDB9-B269-F144-89CF-E6A6DBC4CE1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DC7F494-EF05-2F45-BD9F-736CBF1C8A7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>
              <a:solidFill>
                <a:schemeClr val="tx1"/>
              </a:solidFill>
            </a:rPr>
            <a:t>Custom parsing engine produces vector and graph-based features</a:t>
          </a:r>
        </a:p>
      </dgm:t>
    </dgm:pt>
    <dgm:pt modelId="{5B71392A-9B11-7D4E-8ADB-61B1BF84467B}" type="parTrans" cxnId="{A040D854-932D-4043-BE2D-561D65DA573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FB1B001-8B84-2F44-BB98-B1EE6CC6D890}" type="sibTrans" cxnId="{A040D854-932D-4043-BE2D-561D65DA573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AC0ABB3-E18F-8448-A2FF-E19995258F6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err="1">
              <a:solidFill>
                <a:schemeClr val="tx1"/>
              </a:solidFill>
            </a:rPr>
            <a:t>OpenROAD</a:t>
          </a:r>
          <a:r>
            <a:rPr lang="en-US" sz="1800">
              <a:solidFill>
                <a:schemeClr val="tx1"/>
              </a:solidFill>
            </a:rPr>
            <a:t> for physical synthesis</a:t>
          </a:r>
        </a:p>
      </dgm:t>
    </dgm:pt>
    <dgm:pt modelId="{5D8E2DC7-5D20-5B47-A3F4-0700D4594689}" type="parTrans" cxnId="{D22A2BCF-58A2-0F4C-A423-1F3495B64CC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2AACD7E-8990-F041-9D0B-618D4503451C}" type="sibTrans" cxnId="{D22A2BCF-58A2-0F4C-A423-1F3495B64CC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19A960-3AC9-8444-899C-BCA3F5A203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>
              <a:solidFill>
                <a:schemeClr val="tx1"/>
              </a:solidFill>
            </a:rPr>
            <a:t>Graph-based model: graph attention network (GAT)</a:t>
          </a:r>
        </a:p>
      </dgm:t>
    </dgm:pt>
    <dgm:pt modelId="{DE2C08F3-837A-194F-AFF2-3F8AF6115DE4}" type="parTrans" cxnId="{97D97FBE-9E25-4746-BCEB-BEE16038664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47A957E-84B8-F842-A382-BAA5BAEB4C4E}" type="sibTrans" cxnId="{97D97FBE-9E25-4746-BCEB-BEE16038664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D628E7E-1B12-C44F-A4E1-4370C70998BD}" type="pres">
      <dgm:prSet presAssocID="{7A704742-0E03-0E47-A20F-3ECA4EEA3B8D}" presName="Name0" presStyleCnt="0">
        <dgm:presLayoutVars>
          <dgm:dir/>
          <dgm:animLvl val="lvl"/>
          <dgm:resizeHandles val="exact"/>
        </dgm:presLayoutVars>
      </dgm:prSet>
      <dgm:spPr/>
    </dgm:pt>
    <dgm:pt modelId="{4FCF4FEE-8914-984E-9558-9F32290996BE}" type="pres">
      <dgm:prSet presAssocID="{8A5079E9-4AA2-2942-97EC-A5C410E4D7FB}" presName="linNode" presStyleCnt="0"/>
      <dgm:spPr/>
    </dgm:pt>
    <dgm:pt modelId="{E74F9C4C-0B27-AD4F-A71E-B76520E0984E}" type="pres">
      <dgm:prSet presAssocID="{8A5079E9-4AA2-2942-97EC-A5C410E4D7F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B51A46B-31AA-F442-BEF0-42C1B3EDF794}" type="pres">
      <dgm:prSet presAssocID="{8A5079E9-4AA2-2942-97EC-A5C410E4D7FB}" presName="descendantText" presStyleLbl="alignAccFollowNode1" presStyleIdx="0" presStyleCnt="3">
        <dgm:presLayoutVars>
          <dgm:bulletEnabled val="1"/>
        </dgm:presLayoutVars>
      </dgm:prSet>
      <dgm:spPr/>
    </dgm:pt>
    <dgm:pt modelId="{86B6E865-BFE6-424F-B2F4-CBC8AA8476C5}" type="pres">
      <dgm:prSet presAssocID="{61DDC257-236D-C847-8FE6-387FD5D29622}" presName="sp" presStyleCnt="0"/>
      <dgm:spPr/>
    </dgm:pt>
    <dgm:pt modelId="{BBD59DEA-005E-5044-B2CD-2B46445DE98C}" type="pres">
      <dgm:prSet presAssocID="{565C75DA-C2EA-DE45-A4CE-9D64E6CDDBF9}" presName="linNode" presStyleCnt="0"/>
      <dgm:spPr/>
    </dgm:pt>
    <dgm:pt modelId="{433A882A-1795-1C40-B8D8-B971D57D449B}" type="pres">
      <dgm:prSet presAssocID="{565C75DA-C2EA-DE45-A4CE-9D64E6CDDBF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2CA22FB-605C-F94C-A801-224DCE950EDE}" type="pres">
      <dgm:prSet presAssocID="{565C75DA-C2EA-DE45-A4CE-9D64E6CDDBF9}" presName="descendantText" presStyleLbl="alignAccFollowNode1" presStyleIdx="1" presStyleCnt="3">
        <dgm:presLayoutVars>
          <dgm:bulletEnabled val="1"/>
        </dgm:presLayoutVars>
      </dgm:prSet>
      <dgm:spPr/>
    </dgm:pt>
    <dgm:pt modelId="{DCCA99D5-01C6-7141-A796-56952B8ADC80}" type="pres">
      <dgm:prSet presAssocID="{87574DAA-2986-A040-B8C2-FAC6D11965D2}" presName="sp" presStyleCnt="0"/>
      <dgm:spPr/>
    </dgm:pt>
    <dgm:pt modelId="{DB68F856-AFDC-A946-A9CB-8B0BC883B4CF}" type="pres">
      <dgm:prSet presAssocID="{D32F1D92-4102-6E4B-B4BF-3EC602354E1A}" presName="linNode" presStyleCnt="0"/>
      <dgm:spPr/>
    </dgm:pt>
    <dgm:pt modelId="{CA4C0592-9BA6-1A47-8855-92E526401EC1}" type="pres">
      <dgm:prSet presAssocID="{D32F1D92-4102-6E4B-B4BF-3EC602354E1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8F27D6E-D9F6-DD41-9AD3-32D36A8DAC25}" type="pres">
      <dgm:prSet presAssocID="{D32F1D92-4102-6E4B-B4BF-3EC602354E1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5329210-398D-2743-B241-D5DD3E73F5CC}" type="presOf" srcId="{17343392-3CB8-1548-9BB4-F688F92BDE2D}" destId="{2B51A46B-31AA-F442-BEF0-42C1B3EDF794}" srcOrd="0" destOrd="0" presId="urn:microsoft.com/office/officeart/2005/8/layout/vList5"/>
    <dgm:cxn modelId="{AAB0BA31-87C3-1246-9811-E619E255E197}" type="presOf" srcId="{1C19A960-3AC9-8444-899C-BCA3F5A203C5}" destId="{E8F27D6E-D9F6-DD41-9AD3-32D36A8DAC25}" srcOrd="0" destOrd="1" presId="urn:microsoft.com/office/officeart/2005/8/layout/vList5"/>
    <dgm:cxn modelId="{281E1443-8B82-BA43-B1FF-3451CAE1DC6C}" type="presOf" srcId="{D32F1D92-4102-6E4B-B4BF-3EC602354E1A}" destId="{CA4C0592-9BA6-1A47-8855-92E526401EC1}" srcOrd="0" destOrd="0" presId="urn:microsoft.com/office/officeart/2005/8/layout/vList5"/>
    <dgm:cxn modelId="{55F10B48-723E-1840-8904-953A1169BF24}" type="presOf" srcId="{7A704742-0E03-0E47-A20F-3ECA4EEA3B8D}" destId="{9D628E7E-1B12-C44F-A4E1-4370C70998BD}" srcOrd="0" destOrd="0" presId="urn:microsoft.com/office/officeart/2005/8/layout/vList5"/>
    <dgm:cxn modelId="{A040D854-932D-4043-BE2D-561D65DA5734}" srcId="{8A5079E9-4AA2-2942-97EC-A5C410E4D7FB}" destId="{DDC7F494-EF05-2F45-BD9F-736CBF1C8A75}" srcOrd="1" destOrd="0" parTransId="{5B71392A-9B11-7D4E-8ADB-61B1BF84467B}" sibTransId="{EFB1B001-8B84-2F44-BB98-B1EE6CC6D890}"/>
    <dgm:cxn modelId="{27A4ED54-8CEF-0B45-9EC4-03966F83DC64}" type="presOf" srcId="{DDC7F494-EF05-2F45-BD9F-736CBF1C8A75}" destId="{2B51A46B-31AA-F442-BEF0-42C1B3EDF794}" srcOrd="0" destOrd="1" presId="urn:microsoft.com/office/officeart/2005/8/layout/vList5"/>
    <dgm:cxn modelId="{04C1BCA5-D35B-DB40-86E7-9DDF08DC6264}" type="presOf" srcId="{4AC0ABB3-E18F-8448-A2FF-E19995258F63}" destId="{B2CA22FB-605C-F94C-A801-224DCE950EDE}" srcOrd="0" destOrd="1" presId="urn:microsoft.com/office/officeart/2005/8/layout/vList5"/>
    <dgm:cxn modelId="{848811AC-C0E9-1145-8C99-DF50AA6CF9E6}" type="presOf" srcId="{565C75DA-C2EA-DE45-A4CE-9D64E6CDDBF9}" destId="{433A882A-1795-1C40-B8D8-B971D57D449B}" srcOrd="0" destOrd="0" presId="urn:microsoft.com/office/officeart/2005/8/layout/vList5"/>
    <dgm:cxn modelId="{D1CBBFAC-D0AC-9146-8C61-0B2CD71DB113}" srcId="{7A704742-0E03-0E47-A20F-3ECA4EEA3B8D}" destId="{D32F1D92-4102-6E4B-B4BF-3EC602354E1A}" srcOrd="2" destOrd="0" parTransId="{ABDE5AB4-6529-9646-8819-802797E17AAD}" sibTransId="{C5090DC7-4CC2-A948-8CC9-847E055B61DB}"/>
    <dgm:cxn modelId="{9289C1AD-EC54-F542-998D-E1EB430F812F}" type="presOf" srcId="{74A22C6F-F10E-AD47-AD99-E5CEF920F4FF}" destId="{E8F27D6E-D9F6-DD41-9AD3-32D36A8DAC25}" srcOrd="0" destOrd="0" presId="urn:microsoft.com/office/officeart/2005/8/layout/vList5"/>
    <dgm:cxn modelId="{51D9CDB9-B269-F144-89CF-E6A6DBC4CE15}" srcId="{D32F1D92-4102-6E4B-B4BF-3EC602354E1A}" destId="{74A22C6F-F10E-AD47-AD99-E5CEF920F4FF}" srcOrd="0" destOrd="0" parTransId="{BCEAADF8-FC1E-D44F-9C31-55B25C0A9824}" sibTransId="{08310E75-689C-4445-AFC5-8AF82BE33707}"/>
    <dgm:cxn modelId="{97D97FBE-9E25-4746-BCEB-BEE16038664B}" srcId="{D32F1D92-4102-6E4B-B4BF-3EC602354E1A}" destId="{1C19A960-3AC9-8444-899C-BCA3F5A203C5}" srcOrd="1" destOrd="0" parTransId="{DE2C08F3-837A-194F-AFF2-3F8AF6115DE4}" sibTransId="{247A957E-84B8-F842-A382-BAA5BAEB4C4E}"/>
    <dgm:cxn modelId="{096765C4-2D86-614F-8517-965672954B45}" srcId="{565C75DA-C2EA-DE45-A4CE-9D64E6CDDBF9}" destId="{8A664FC2-AFDF-0944-93E3-6BC5A54E6272}" srcOrd="0" destOrd="0" parTransId="{1F525A44-4840-1B45-BEFE-9F3AD77C0833}" sibTransId="{8A8385BE-5E91-5E46-BA10-7CA2960F4A9F}"/>
    <dgm:cxn modelId="{98FB99CB-63DF-054C-942C-A998F475DDA1}" srcId="{7A704742-0E03-0E47-A20F-3ECA4EEA3B8D}" destId="{565C75DA-C2EA-DE45-A4CE-9D64E6CDDBF9}" srcOrd="1" destOrd="0" parTransId="{5ECCCCE5-39E3-2F49-97BF-BB55961011E4}" sibTransId="{87574DAA-2986-A040-B8C2-FAC6D11965D2}"/>
    <dgm:cxn modelId="{D22A2BCF-58A2-0F4C-A423-1F3495B64CC0}" srcId="{565C75DA-C2EA-DE45-A4CE-9D64E6CDDBF9}" destId="{4AC0ABB3-E18F-8448-A2FF-E19995258F63}" srcOrd="1" destOrd="0" parTransId="{5D8E2DC7-5D20-5B47-A3F4-0700D4594689}" sibTransId="{E2AACD7E-8990-F041-9D0B-618D4503451C}"/>
    <dgm:cxn modelId="{C9A580D7-EEA6-2F48-8A17-79C4E2BE777F}" type="presOf" srcId="{8A5079E9-4AA2-2942-97EC-A5C410E4D7FB}" destId="{E74F9C4C-0B27-AD4F-A71E-B76520E0984E}" srcOrd="0" destOrd="0" presId="urn:microsoft.com/office/officeart/2005/8/layout/vList5"/>
    <dgm:cxn modelId="{508155EF-BE4F-AA46-8D9F-79A7E9FB2794}" type="presOf" srcId="{8A664FC2-AFDF-0944-93E3-6BC5A54E6272}" destId="{B2CA22FB-605C-F94C-A801-224DCE950EDE}" srcOrd="0" destOrd="0" presId="urn:microsoft.com/office/officeart/2005/8/layout/vList5"/>
    <dgm:cxn modelId="{0A3ACAF1-10D2-7A42-8C8E-1D2B103EB6B7}" srcId="{8A5079E9-4AA2-2942-97EC-A5C410E4D7FB}" destId="{17343392-3CB8-1548-9BB4-F688F92BDE2D}" srcOrd="0" destOrd="0" parTransId="{7A152514-6006-F645-8483-07A7BC2BAC1D}" sibTransId="{191D4A29-4E9E-AE4A-A94F-F7177ADCFAB2}"/>
    <dgm:cxn modelId="{A5C578F7-E073-3A43-83DB-BFCF22BAC843}" srcId="{7A704742-0E03-0E47-A20F-3ECA4EEA3B8D}" destId="{8A5079E9-4AA2-2942-97EC-A5C410E4D7FB}" srcOrd="0" destOrd="0" parTransId="{112FC21B-6D08-D84A-8DC1-453E8936789D}" sibTransId="{61DDC257-236D-C847-8FE6-387FD5D29622}"/>
    <dgm:cxn modelId="{63AC0526-A4F1-7740-9333-EAA2881311B4}" type="presParOf" srcId="{9D628E7E-1B12-C44F-A4E1-4370C70998BD}" destId="{4FCF4FEE-8914-984E-9558-9F32290996BE}" srcOrd="0" destOrd="0" presId="urn:microsoft.com/office/officeart/2005/8/layout/vList5"/>
    <dgm:cxn modelId="{8AFA9ABA-F6FF-F347-9770-9E3B81612F9C}" type="presParOf" srcId="{4FCF4FEE-8914-984E-9558-9F32290996BE}" destId="{E74F9C4C-0B27-AD4F-A71E-B76520E0984E}" srcOrd="0" destOrd="0" presId="urn:microsoft.com/office/officeart/2005/8/layout/vList5"/>
    <dgm:cxn modelId="{E3F5725E-6239-D449-B1B1-1CD58F29DC98}" type="presParOf" srcId="{4FCF4FEE-8914-984E-9558-9F32290996BE}" destId="{2B51A46B-31AA-F442-BEF0-42C1B3EDF794}" srcOrd="1" destOrd="0" presId="urn:microsoft.com/office/officeart/2005/8/layout/vList5"/>
    <dgm:cxn modelId="{8D819FB5-6B55-4145-8308-64676FB65C65}" type="presParOf" srcId="{9D628E7E-1B12-C44F-A4E1-4370C70998BD}" destId="{86B6E865-BFE6-424F-B2F4-CBC8AA8476C5}" srcOrd="1" destOrd="0" presId="urn:microsoft.com/office/officeart/2005/8/layout/vList5"/>
    <dgm:cxn modelId="{22B62976-DB5F-4149-846F-1EEBE7F8B753}" type="presParOf" srcId="{9D628E7E-1B12-C44F-A4E1-4370C70998BD}" destId="{BBD59DEA-005E-5044-B2CD-2B46445DE98C}" srcOrd="2" destOrd="0" presId="urn:microsoft.com/office/officeart/2005/8/layout/vList5"/>
    <dgm:cxn modelId="{E4AB66C8-50DE-4F4F-9BBC-1846CCAD63BC}" type="presParOf" srcId="{BBD59DEA-005E-5044-B2CD-2B46445DE98C}" destId="{433A882A-1795-1C40-B8D8-B971D57D449B}" srcOrd="0" destOrd="0" presId="urn:microsoft.com/office/officeart/2005/8/layout/vList5"/>
    <dgm:cxn modelId="{D7C62FBD-F9E6-6C44-BBCD-DC33FD910EE4}" type="presParOf" srcId="{BBD59DEA-005E-5044-B2CD-2B46445DE98C}" destId="{B2CA22FB-605C-F94C-A801-224DCE950EDE}" srcOrd="1" destOrd="0" presId="urn:microsoft.com/office/officeart/2005/8/layout/vList5"/>
    <dgm:cxn modelId="{705D925A-AE79-D241-BCFF-2ECDA8052858}" type="presParOf" srcId="{9D628E7E-1B12-C44F-A4E1-4370C70998BD}" destId="{DCCA99D5-01C6-7141-A796-56952B8ADC80}" srcOrd="3" destOrd="0" presId="urn:microsoft.com/office/officeart/2005/8/layout/vList5"/>
    <dgm:cxn modelId="{50B0F977-EA73-F848-B5F6-1B75AF590850}" type="presParOf" srcId="{9D628E7E-1B12-C44F-A4E1-4370C70998BD}" destId="{DB68F856-AFDC-A946-A9CB-8B0BC883B4CF}" srcOrd="4" destOrd="0" presId="urn:microsoft.com/office/officeart/2005/8/layout/vList5"/>
    <dgm:cxn modelId="{B7E95970-33FC-B04C-B039-48C4F207F18F}" type="presParOf" srcId="{DB68F856-AFDC-A946-A9CB-8B0BC883B4CF}" destId="{CA4C0592-9BA6-1A47-8855-92E526401EC1}" srcOrd="0" destOrd="0" presId="urn:microsoft.com/office/officeart/2005/8/layout/vList5"/>
    <dgm:cxn modelId="{924A6EC6-40AF-F54B-8DB1-7074C85BA54E}" type="presParOf" srcId="{DB68F856-AFDC-A946-A9CB-8B0BC883B4CF}" destId="{E8F27D6E-D9F6-DD41-9AD3-32D36A8DAC2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97D5EA-E742-3542-BC49-A16DE36568C9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9C6E7C-1CFF-F649-A63F-7FD80A092F77}">
      <dgm:prSet phldrT="[Text]" custT="1"/>
      <dgm:spPr/>
      <dgm:t>
        <a:bodyPr/>
        <a:lstStyle/>
        <a:p>
          <a:r>
            <a:rPr lang="en-US" sz="2200" b="1">
              <a:solidFill>
                <a:schemeClr val="tx1"/>
              </a:solidFill>
              <a:latin typeface="+mj-lt"/>
            </a:rPr>
            <a:t>Pending</a:t>
          </a:r>
          <a:r>
            <a:rPr lang="en-US" sz="2200" b="1" baseline="0">
              <a:solidFill>
                <a:schemeClr val="tx1"/>
              </a:solidFill>
              <a:latin typeface="+mj-lt"/>
            </a:rPr>
            <a:t> Experiments</a:t>
          </a:r>
          <a:endParaRPr lang="en-US" sz="2200" b="1">
            <a:solidFill>
              <a:schemeClr val="tx1"/>
            </a:solidFill>
            <a:latin typeface="+mj-lt"/>
          </a:endParaRPr>
        </a:p>
      </dgm:t>
    </dgm:pt>
    <dgm:pt modelId="{8C33EBCA-9E87-DE42-9CE0-F515004DEC3B}" type="parTrans" cxnId="{D7DE5975-9EBD-2642-8367-A3CCEDDC8C84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A365CE15-92FD-E241-AF32-CBE5C7E7DA2E}" type="sibTrans" cxnId="{D7DE5975-9EBD-2642-8367-A3CCEDDC8C84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5B2F34DD-77F4-2144-BB4F-42BA3965A011}">
      <dgm:prSet phldrT="[Text]"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Further ablation studies with number of GAT layers/attention heads and tuning vector model hyperparameters</a:t>
          </a:r>
        </a:p>
      </dgm:t>
    </dgm:pt>
    <dgm:pt modelId="{30E085B8-A71B-694E-B948-99E9E08B7CAF}" type="parTrans" cxnId="{9A97B870-344A-7742-913F-1C1C3428391E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AFFD4A8A-BC29-8347-8614-6C976D06B2EF}" type="sibTrans" cxnId="{9A97B870-344A-7742-913F-1C1C3428391E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5B748D7E-A114-B04F-86BC-4CF34CDBBE0D}">
      <dgm:prSet phldrT="[Text]" custT="1"/>
      <dgm:spPr/>
      <dgm:t>
        <a:bodyPr/>
        <a:lstStyle/>
        <a:p>
          <a:r>
            <a:rPr lang="en-US" sz="2200" b="1">
              <a:solidFill>
                <a:schemeClr val="tx1"/>
              </a:solidFill>
              <a:latin typeface="+mj-lt"/>
            </a:rPr>
            <a:t>Limitations</a:t>
          </a:r>
        </a:p>
      </dgm:t>
    </dgm:pt>
    <dgm:pt modelId="{E278F904-0250-7445-8E39-A0F28F3E41D4}" type="parTrans" cxnId="{F937510F-439D-EB4B-A7B2-8479E2CF6A07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1CDF4371-65B7-E64B-A6CD-046290A4D647}" type="sibTrans" cxnId="{F937510F-439D-EB4B-A7B2-8479E2CF6A07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A3B377D6-4069-3D42-84BB-4664EA757361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u="sng">
              <a:solidFill>
                <a:schemeClr val="tx1"/>
              </a:solidFill>
              <a:latin typeface="+mj-lt"/>
            </a:rPr>
            <a:t>Restricted to timing </a:t>
          </a:r>
          <a:r>
            <a:rPr lang="en-US" sz="1800">
              <a:solidFill>
                <a:schemeClr val="tx1"/>
              </a:solidFill>
              <a:latin typeface="+mj-lt"/>
            </a:rPr>
            <a:t>prediction, no area or power regression</a:t>
          </a:r>
        </a:p>
      </dgm:t>
    </dgm:pt>
    <dgm:pt modelId="{7306496D-8BD7-1142-892E-5FF12348991E}" type="parTrans" cxnId="{00E0C043-F4B3-D24F-BFA5-FC1AA1432958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D1F4EB93-D016-794E-8F9E-DF598C7E7B14}" type="sibTrans" cxnId="{00E0C043-F4B3-D24F-BFA5-FC1AA1432958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32A178A8-1B5D-6A4B-9EF1-BCF87391696F}">
      <dgm:prSet phldrT="[Text]" custT="1"/>
      <dgm:spPr/>
      <dgm:t>
        <a:bodyPr/>
        <a:lstStyle/>
        <a:p>
          <a:r>
            <a:rPr lang="en-US" sz="2200" b="1">
              <a:solidFill>
                <a:schemeClr val="tx1"/>
              </a:solidFill>
              <a:latin typeface="+mj-lt"/>
            </a:rPr>
            <a:t>Future Work</a:t>
          </a:r>
        </a:p>
      </dgm:t>
    </dgm:pt>
    <dgm:pt modelId="{40291A67-13F7-AF42-876E-B5F45A9BB44D}" type="parTrans" cxnId="{54462584-0195-C845-B0BE-7D637668FD80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3EC9814A-1D4C-9947-9590-C27DB07695C8}" type="sibTrans" cxnId="{54462584-0195-C845-B0BE-7D637668FD80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1FC15132-F252-AF49-930C-7F99F436AF04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Gather a larger spread of data with more nonzero TNS values</a:t>
          </a:r>
        </a:p>
      </dgm:t>
    </dgm:pt>
    <dgm:pt modelId="{0BCBDA42-A83C-CD4B-ADAC-36CD75F01DF8}" type="parTrans" cxnId="{85241C77-E24C-1940-B29A-06D7D4C83F9D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595305D1-23F5-F144-AA32-AF76C198F091}" type="sibTrans" cxnId="{85241C77-E24C-1940-B29A-06D7D4C83F9D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47F51799-F558-AC46-B431-21593F6A8149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Limited </a:t>
          </a:r>
          <a:r>
            <a:rPr lang="en-US" sz="1800" u="sng">
              <a:solidFill>
                <a:schemeClr val="tx1"/>
              </a:solidFill>
              <a:latin typeface="+mj-lt"/>
            </a:rPr>
            <a:t>dataset diversity </a:t>
          </a:r>
          <a:r>
            <a:rPr lang="en-US" sz="1800">
              <a:solidFill>
                <a:schemeClr val="tx1"/>
              </a:solidFill>
              <a:latin typeface="+mj-lt"/>
            </a:rPr>
            <a:t>– most benchmarks are communication interfaces and toy sequential circuits</a:t>
          </a:r>
        </a:p>
      </dgm:t>
    </dgm:pt>
    <dgm:pt modelId="{7320974A-8710-8A48-83A2-4D67DD3B0495}" type="parTrans" cxnId="{0ABCD43B-AF4C-0D4A-9BA5-C49DE9AD8B11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8673BAC9-1D0D-2E4F-88B1-8261C4302DB1}" type="sibTrans" cxnId="{0ABCD43B-AF4C-0D4A-9BA5-C49DE9AD8B11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871E4528-1D4E-4641-B8D4-CDFFEABF8F35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Ground truth generated from open-source tool – </a:t>
          </a:r>
          <a:r>
            <a:rPr lang="en-US" sz="1800" u="sng">
              <a:solidFill>
                <a:schemeClr val="tx1"/>
              </a:solidFill>
              <a:latin typeface="+mj-lt"/>
            </a:rPr>
            <a:t>less accurate</a:t>
          </a:r>
          <a:r>
            <a:rPr lang="en-US" sz="1800">
              <a:solidFill>
                <a:schemeClr val="tx1"/>
              </a:solidFill>
              <a:latin typeface="+mj-lt"/>
            </a:rPr>
            <a:t> than industrial tools</a:t>
          </a:r>
        </a:p>
      </dgm:t>
    </dgm:pt>
    <dgm:pt modelId="{DD6C8203-9770-4D46-8E28-671A40B95427}" type="parTrans" cxnId="{EB98C605-4CEE-A348-8EDF-23B4865C323B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53C11472-2C1F-6747-8AC1-40D0EF7655CF}" type="sibTrans" cxnId="{EB98C605-4CEE-A348-8EDF-23B4865C323B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A76D0218-93E5-5144-A6CA-B44CD3FE9663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Increase number of synthesis </a:t>
          </a:r>
          <a:r>
            <a:rPr lang="en-US" sz="1800" u="sng">
              <a:solidFill>
                <a:schemeClr val="tx1"/>
              </a:solidFill>
              <a:latin typeface="+mj-lt"/>
            </a:rPr>
            <a:t>recipe knobs </a:t>
          </a:r>
          <a:r>
            <a:rPr lang="en-US" sz="1800">
              <a:solidFill>
                <a:schemeClr val="tx1"/>
              </a:solidFill>
              <a:latin typeface="+mj-lt"/>
            </a:rPr>
            <a:t>– could incorporate more physical constraints</a:t>
          </a:r>
        </a:p>
      </dgm:t>
    </dgm:pt>
    <dgm:pt modelId="{32AFBACB-1A83-6541-B3A1-D795C6B53D54}" type="parTrans" cxnId="{C5D75EC4-2CBF-BB4F-9F78-16053615816F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8C3D354A-15F2-4B4D-9CF0-46744C6C6E3A}" type="sibTrans" cxnId="{C5D75EC4-2CBF-BB4F-9F78-16053615816F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3CB5FBAD-D517-9349-8B32-9D9FCF3545D4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Specialize </a:t>
          </a:r>
          <a:r>
            <a:rPr lang="en-US" sz="1800" err="1">
              <a:solidFill>
                <a:schemeClr val="tx1"/>
              </a:solidFill>
              <a:latin typeface="+mj-lt"/>
            </a:rPr>
            <a:t>QoRNet</a:t>
          </a:r>
          <a:r>
            <a:rPr lang="en-US" sz="1800">
              <a:solidFill>
                <a:schemeClr val="tx1"/>
              </a:solidFill>
              <a:latin typeface="+mj-lt"/>
            </a:rPr>
            <a:t> to timing/area prediction for </a:t>
          </a:r>
          <a:r>
            <a:rPr lang="en-US" sz="1800" u="sng" err="1">
              <a:solidFill>
                <a:schemeClr val="tx1"/>
              </a:solidFill>
              <a:latin typeface="+mj-lt"/>
            </a:rPr>
            <a:t>datapath</a:t>
          </a:r>
          <a:r>
            <a:rPr lang="en-US" sz="1800" u="sng">
              <a:solidFill>
                <a:schemeClr val="tx1"/>
              </a:solidFill>
              <a:latin typeface="+mj-lt"/>
            </a:rPr>
            <a:t> circuits</a:t>
          </a:r>
        </a:p>
      </dgm:t>
    </dgm:pt>
    <dgm:pt modelId="{30DF0E5B-F098-B149-A520-2D7C18A0FB15}" type="parTrans" cxnId="{F01C118F-529D-EC4C-B0F7-46BB5D861517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F993D6A0-9CD0-B843-B016-8BFE9F58FD55}" type="sibTrans" cxnId="{F01C118F-529D-EC4C-B0F7-46BB5D861517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05390454-B449-F64E-8467-919EA67504F7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Explore additional intermediate graph </a:t>
          </a:r>
          <a:r>
            <a:rPr lang="en-US" sz="1800" u="sng">
              <a:solidFill>
                <a:schemeClr val="tx1"/>
              </a:solidFill>
              <a:latin typeface="+mj-lt"/>
            </a:rPr>
            <a:t>representations</a:t>
          </a:r>
          <a:r>
            <a:rPr lang="en-US" sz="1800">
              <a:solidFill>
                <a:schemeClr val="tx1"/>
              </a:solidFill>
              <a:latin typeface="+mj-lt"/>
            </a:rPr>
            <a:t> of circuits</a:t>
          </a:r>
        </a:p>
      </dgm:t>
    </dgm:pt>
    <dgm:pt modelId="{02CDB076-0AE2-504A-A684-141B0B5BCD07}" type="parTrans" cxnId="{8B547BCB-1F8D-B645-9E1A-4A8CB64DBA6C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92472F3C-CC03-E249-988B-25572D9A4185}" type="sibTrans" cxnId="{8B547BCB-1F8D-B645-9E1A-4A8CB64DBA6C}">
      <dgm:prSet/>
      <dgm:spPr/>
      <dgm:t>
        <a:bodyPr/>
        <a:lstStyle/>
        <a:p>
          <a:endParaRPr lang="en-US" sz="1800">
            <a:solidFill>
              <a:schemeClr val="tx1"/>
            </a:solidFill>
            <a:latin typeface="+mj-lt"/>
          </a:endParaRPr>
        </a:p>
      </dgm:t>
    </dgm:pt>
    <dgm:pt modelId="{A01DF06D-24D4-3D45-843F-3F8689CFABB7}">
      <dgm:prSet custT="1"/>
      <dgm:spPr/>
      <dgm:t>
        <a:bodyPr/>
        <a:lstStyle/>
        <a:p>
          <a:r>
            <a:rPr lang="en-US" sz="1800">
              <a:solidFill>
                <a:schemeClr val="tx1"/>
              </a:solidFill>
              <a:latin typeface="+mj-lt"/>
            </a:rPr>
            <a:t>Manage the difference in dimensionality between graph inputs</a:t>
          </a:r>
        </a:p>
      </dgm:t>
    </dgm:pt>
    <dgm:pt modelId="{6931F415-9E6D-AA42-B7BC-B9760E410212}" type="parTrans" cxnId="{A043E7A6-C2EE-AA47-8DB3-DBAE82A3798E}">
      <dgm:prSet/>
      <dgm:spPr/>
      <dgm:t>
        <a:bodyPr/>
        <a:lstStyle/>
        <a:p>
          <a:endParaRPr lang="en-US"/>
        </a:p>
      </dgm:t>
    </dgm:pt>
    <dgm:pt modelId="{F936C7FE-5BA9-6249-ABB0-FA6360B44499}" type="sibTrans" cxnId="{A043E7A6-C2EE-AA47-8DB3-DBAE82A3798E}">
      <dgm:prSet/>
      <dgm:spPr/>
      <dgm:t>
        <a:bodyPr/>
        <a:lstStyle/>
        <a:p>
          <a:endParaRPr lang="en-US"/>
        </a:p>
      </dgm:t>
    </dgm:pt>
    <dgm:pt modelId="{1575963B-7171-AA43-8BA2-F41853BA8730}" type="pres">
      <dgm:prSet presAssocID="{C397D5EA-E742-3542-BC49-A16DE36568C9}" presName="Name0" presStyleCnt="0">
        <dgm:presLayoutVars>
          <dgm:dir/>
          <dgm:animLvl val="lvl"/>
          <dgm:resizeHandles val="exact"/>
        </dgm:presLayoutVars>
      </dgm:prSet>
      <dgm:spPr/>
    </dgm:pt>
    <dgm:pt modelId="{0E19639F-EA2B-CD48-8533-896BBBB68D22}" type="pres">
      <dgm:prSet presAssocID="{7A9C6E7C-1CFF-F649-A63F-7FD80A092F77}" presName="composite" presStyleCnt="0"/>
      <dgm:spPr/>
    </dgm:pt>
    <dgm:pt modelId="{DE3946DB-5A84-9742-9B64-755BB2C49102}" type="pres">
      <dgm:prSet presAssocID="{7A9C6E7C-1CFF-F649-A63F-7FD80A092F77}" presName="parTx" presStyleLbl="alignNode1" presStyleIdx="0" presStyleCnt="3" custScaleX="125853">
        <dgm:presLayoutVars>
          <dgm:chMax val="0"/>
          <dgm:chPref val="0"/>
          <dgm:bulletEnabled val="1"/>
        </dgm:presLayoutVars>
      </dgm:prSet>
      <dgm:spPr/>
    </dgm:pt>
    <dgm:pt modelId="{62806F8D-B255-F34A-8B91-6EB33A0ED9FD}" type="pres">
      <dgm:prSet presAssocID="{7A9C6E7C-1CFF-F649-A63F-7FD80A092F77}" presName="desTx" presStyleLbl="alignAccFollowNode1" presStyleIdx="0" presStyleCnt="3" custScaleX="127226">
        <dgm:presLayoutVars>
          <dgm:bulletEnabled val="1"/>
        </dgm:presLayoutVars>
      </dgm:prSet>
      <dgm:spPr/>
    </dgm:pt>
    <dgm:pt modelId="{DD6D0E42-3B2B-AF49-9712-28EE59D7F6B4}" type="pres">
      <dgm:prSet presAssocID="{A365CE15-92FD-E241-AF32-CBE5C7E7DA2E}" presName="space" presStyleCnt="0"/>
      <dgm:spPr/>
    </dgm:pt>
    <dgm:pt modelId="{9200481F-F327-424D-B020-55C1D94A2696}" type="pres">
      <dgm:prSet presAssocID="{5B748D7E-A114-B04F-86BC-4CF34CDBBE0D}" presName="composite" presStyleCnt="0"/>
      <dgm:spPr/>
    </dgm:pt>
    <dgm:pt modelId="{6E9D41C6-382B-084F-92D1-AE11199409DB}" type="pres">
      <dgm:prSet presAssocID="{5B748D7E-A114-B04F-86BC-4CF34CDBBE0D}" presName="parTx" presStyleLbl="alignNode1" presStyleIdx="1" presStyleCnt="3" custScaleX="131450">
        <dgm:presLayoutVars>
          <dgm:chMax val="0"/>
          <dgm:chPref val="0"/>
          <dgm:bulletEnabled val="1"/>
        </dgm:presLayoutVars>
      </dgm:prSet>
      <dgm:spPr/>
    </dgm:pt>
    <dgm:pt modelId="{CEAE32C6-949C-7149-9CE6-A3D52AE1279F}" type="pres">
      <dgm:prSet presAssocID="{5B748D7E-A114-B04F-86BC-4CF34CDBBE0D}" presName="desTx" presStyleLbl="alignAccFollowNode1" presStyleIdx="1" presStyleCnt="3" custScaleX="132388">
        <dgm:presLayoutVars>
          <dgm:bulletEnabled val="1"/>
        </dgm:presLayoutVars>
      </dgm:prSet>
      <dgm:spPr/>
    </dgm:pt>
    <dgm:pt modelId="{7FDADA32-76EC-394B-A921-1885EF4D823E}" type="pres">
      <dgm:prSet presAssocID="{1CDF4371-65B7-E64B-A6CD-046290A4D647}" presName="space" presStyleCnt="0"/>
      <dgm:spPr/>
    </dgm:pt>
    <dgm:pt modelId="{AE1D2AF7-F50F-2B48-8A2C-D314BA5B1C17}" type="pres">
      <dgm:prSet presAssocID="{32A178A8-1B5D-6A4B-9EF1-BCF87391696F}" presName="composite" presStyleCnt="0"/>
      <dgm:spPr/>
    </dgm:pt>
    <dgm:pt modelId="{251D0F2C-E4B2-1F46-B03B-BA4826015D86}" type="pres">
      <dgm:prSet presAssocID="{32A178A8-1B5D-6A4B-9EF1-BCF87391696F}" presName="parTx" presStyleLbl="alignNode1" presStyleIdx="2" presStyleCnt="3" custScaleX="137284">
        <dgm:presLayoutVars>
          <dgm:chMax val="0"/>
          <dgm:chPref val="0"/>
          <dgm:bulletEnabled val="1"/>
        </dgm:presLayoutVars>
      </dgm:prSet>
      <dgm:spPr/>
    </dgm:pt>
    <dgm:pt modelId="{4EBC36A9-340A-3B44-B70D-63ADCCA1FDEC}" type="pres">
      <dgm:prSet presAssocID="{32A178A8-1B5D-6A4B-9EF1-BCF87391696F}" presName="desTx" presStyleLbl="alignAccFollowNode1" presStyleIdx="2" presStyleCnt="3" custScaleX="136834">
        <dgm:presLayoutVars>
          <dgm:bulletEnabled val="1"/>
        </dgm:presLayoutVars>
      </dgm:prSet>
      <dgm:spPr/>
    </dgm:pt>
  </dgm:ptLst>
  <dgm:cxnLst>
    <dgm:cxn modelId="{EB98C605-4CEE-A348-8EDF-23B4865C323B}" srcId="{5B748D7E-A114-B04F-86BC-4CF34CDBBE0D}" destId="{871E4528-1D4E-4641-B8D4-CDFFEABF8F35}" srcOrd="2" destOrd="0" parTransId="{DD6C8203-9770-4D46-8E28-671A40B95427}" sibTransId="{53C11472-2C1F-6747-8AC1-40D0EF7655CF}"/>
    <dgm:cxn modelId="{F937510F-439D-EB4B-A7B2-8479E2CF6A07}" srcId="{C397D5EA-E742-3542-BC49-A16DE36568C9}" destId="{5B748D7E-A114-B04F-86BC-4CF34CDBBE0D}" srcOrd="1" destOrd="0" parTransId="{E278F904-0250-7445-8E39-A0F28F3E41D4}" sibTransId="{1CDF4371-65B7-E64B-A6CD-046290A4D647}"/>
    <dgm:cxn modelId="{0A61FB13-B75A-6949-A9A2-002980291BAE}" type="presOf" srcId="{47F51799-F558-AC46-B431-21593F6A8149}" destId="{CEAE32C6-949C-7149-9CE6-A3D52AE1279F}" srcOrd="0" destOrd="1" presId="urn:microsoft.com/office/officeart/2005/8/layout/hList1"/>
    <dgm:cxn modelId="{3BCA2120-BDD7-F346-BDA6-DF08A8D8DB19}" type="presOf" srcId="{C397D5EA-E742-3542-BC49-A16DE36568C9}" destId="{1575963B-7171-AA43-8BA2-F41853BA8730}" srcOrd="0" destOrd="0" presId="urn:microsoft.com/office/officeart/2005/8/layout/hList1"/>
    <dgm:cxn modelId="{0ABCD43B-AF4C-0D4A-9BA5-C49DE9AD8B11}" srcId="{5B748D7E-A114-B04F-86BC-4CF34CDBBE0D}" destId="{47F51799-F558-AC46-B431-21593F6A8149}" srcOrd="1" destOrd="0" parTransId="{7320974A-8710-8A48-83A2-4D67DD3B0495}" sibTransId="{8673BAC9-1D0D-2E4F-88B1-8261C4302DB1}"/>
    <dgm:cxn modelId="{00E0C043-F4B3-D24F-BFA5-FC1AA1432958}" srcId="{5B748D7E-A114-B04F-86BC-4CF34CDBBE0D}" destId="{A3B377D6-4069-3D42-84BB-4664EA757361}" srcOrd="0" destOrd="0" parTransId="{7306496D-8BD7-1142-892E-5FF12348991E}" sibTransId="{D1F4EB93-D016-794E-8F9E-DF598C7E7B14}"/>
    <dgm:cxn modelId="{3042084D-64A5-3345-AACC-FE6071BB507E}" type="presOf" srcId="{5B748D7E-A114-B04F-86BC-4CF34CDBBE0D}" destId="{6E9D41C6-382B-084F-92D1-AE11199409DB}" srcOrd="0" destOrd="0" presId="urn:microsoft.com/office/officeart/2005/8/layout/hList1"/>
    <dgm:cxn modelId="{14200D50-F848-EF40-84DA-4B5C93165DC2}" type="presOf" srcId="{32A178A8-1B5D-6A4B-9EF1-BCF87391696F}" destId="{251D0F2C-E4B2-1F46-B03B-BA4826015D86}" srcOrd="0" destOrd="0" presId="urn:microsoft.com/office/officeart/2005/8/layout/hList1"/>
    <dgm:cxn modelId="{C950B65A-D560-2C42-8187-E79AF44D3F8B}" type="presOf" srcId="{A76D0218-93E5-5144-A6CA-B44CD3FE9663}" destId="{4EBC36A9-340A-3B44-B70D-63ADCCA1FDEC}" srcOrd="0" destOrd="0" presId="urn:microsoft.com/office/officeart/2005/8/layout/hList1"/>
    <dgm:cxn modelId="{387D7E5E-01B6-DF4C-A146-77395A8514F4}" type="presOf" srcId="{1FC15132-F252-AF49-930C-7F99F436AF04}" destId="{62806F8D-B255-F34A-8B91-6EB33A0ED9FD}" srcOrd="0" destOrd="1" presId="urn:microsoft.com/office/officeart/2005/8/layout/hList1"/>
    <dgm:cxn modelId="{9A97B870-344A-7742-913F-1C1C3428391E}" srcId="{7A9C6E7C-1CFF-F649-A63F-7FD80A092F77}" destId="{5B2F34DD-77F4-2144-BB4F-42BA3965A011}" srcOrd="0" destOrd="0" parTransId="{30E085B8-A71B-694E-B948-99E9E08B7CAF}" sibTransId="{AFFD4A8A-BC29-8347-8614-6C976D06B2EF}"/>
    <dgm:cxn modelId="{D7DE5975-9EBD-2642-8367-A3CCEDDC8C84}" srcId="{C397D5EA-E742-3542-BC49-A16DE36568C9}" destId="{7A9C6E7C-1CFF-F649-A63F-7FD80A092F77}" srcOrd="0" destOrd="0" parTransId="{8C33EBCA-9E87-DE42-9CE0-F515004DEC3B}" sibTransId="{A365CE15-92FD-E241-AF32-CBE5C7E7DA2E}"/>
    <dgm:cxn modelId="{85241C77-E24C-1940-B29A-06D7D4C83F9D}" srcId="{7A9C6E7C-1CFF-F649-A63F-7FD80A092F77}" destId="{1FC15132-F252-AF49-930C-7F99F436AF04}" srcOrd="1" destOrd="0" parTransId="{0BCBDA42-A83C-CD4B-ADAC-36CD75F01DF8}" sibTransId="{595305D1-23F5-F144-AA32-AF76C198F091}"/>
    <dgm:cxn modelId="{54462584-0195-C845-B0BE-7D637668FD80}" srcId="{C397D5EA-E742-3542-BC49-A16DE36568C9}" destId="{32A178A8-1B5D-6A4B-9EF1-BCF87391696F}" srcOrd="2" destOrd="0" parTransId="{40291A67-13F7-AF42-876E-B5F45A9BB44D}" sibTransId="{3EC9814A-1D4C-9947-9590-C27DB07695C8}"/>
    <dgm:cxn modelId="{F01C118F-529D-EC4C-B0F7-46BB5D861517}" srcId="{32A178A8-1B5D-6A4B-9EF1-BCF87391696F}" destId="{3CB5FBAD-D517-9349-8B32-9D9FCF3545D4}" srcOrd="1" destOrd="0" parTransId="{30DF0E5B-F098-B149-A520-2D7C18A0FB15}" sibTransId="{F993D6A0-9CD0-B843-B016-8BFE9F58FD55}"/>
    <dgm:cxn modelId="{E69C2F94-E13C-DE41-9D82-10B395ABE7F7}" type="presOf" srcId="{A3B377D6-4069-3D42-84BB-4664EA757361}" destId="{CEAE32C6-949C-7149-9CE6-A3D52AE1279F}" srcOrd="0" destOrd="0" presId="urn:microsoft.com/office/officeart/2005/8/layout/hList1"/>
    <dgm:cxn modelId="{A043E7A6-C2EE-AA47-8DB3-DBAE82A3798E}" srcId="{7A9C6E7C-1CFF-F649-A63F-7FD80A092F77}" destId="{A01DF06D-24D4-3D45-843F-3F8689CFABB7}" srcOrd="2" destOrd="0" parTransId="{6931F415-9E6D-AA42-B7BC-B9760E410212}" sibTransId="{F936C7FE-5BA9-6249-ABB0-FA6360B44499}"/>
    <dgm:cxn modelId="{7917A5BD-09F7-2947-BA72-04ECB7D31260}" type="presOf" srcId="{05390454-B449-F64E-8467-919EA67504F7}" destId="{4EBC36A9-340A-3B44-B70D-63ADCCA1FDEC}" srcOrd="0" destOrd="2" presId="urn:microsoft.com/office/officeart/2005/8/layout/hList1"/>
    <dgm:cxn modelId="{BD7B27BF-EA38-5542-8F10-98635F6CB51F}" type="presOf" srcId="{A01DF06D-24D4-3D45-843F-3F8689CFABB7}" destId="{62806F8D-B255-F34A-8B91-6EB33A0ED9FD}" srcOrd="0" destOrd="2" presId="urn:microsoft.com/office/officeart/2005/8/layout/hList1"/>
    <dgm:cxn modelId="{2F0C6CC0-BF58-C946-831D-40A56111ECEF}" type="presOf" srcId="{871E4528-1D4E-4641-B8D4-CDFFEABF8F35}" destId="{CEAE32C6-949C-7149-9CE6-A3D52AE1279F}" srcOrd="0" destOrd="2" presId="urn:microsoft.com/office/officeart/2005/8/layout/hList1"/>
    <dgm:cxn modelId="{C5D75EC4-2CBF-BB4F-9F78-16053615816F}" srcId="{32A178A8-1B5D-6A4B-9EF1-BCF87391696F}" destId="{A76D0218-93E5-5144-A6CA-B44CD3FE9663}" srcOrd="0" destOrd="0" parTransId="{32AFBACB-1A83-6541-B3A1-D795C6B53D54}" sibTransId="{8C3D354A-15F2-4B4D-9CF0-46744C6C6E3A}"/>
    <dgm:cxn modelId="{473202C6-300A-C943-9087-74975FD90593}" type="presOf" srcId="{7A9C6E7C-1CFF-F649-A63F-7FD80A092F77}" destId="{DE3946DB-5A84-9742-9B64-755BB2C49102}" srcOrd="0" destOrd="0" presId="urn:microsoft.com/office/officeart/2005/8/layout/hList1"/>
    <dgm:cxn modelId="{8B547BCB-1F8D-B645-9E1A-4A8CB64DBA6C}" srcId="{32A178A8-1B5D-6A4B-9EF1-BCF87391696F}" destId="{05390454-B449-F64E-8467-919EA67504F7}" srcOrd="2" destOrd="0" parTransId="{02CDB076-0AE2-504A-A684-141B0B5BCD07}" sibTransId="{92472F3C-CC03-E249-988B-25572D9A4185}"/>
    <dgm:cxn modelId="{455144EA-F99B-DF43-AB1D-8B803708C57A}" type="presOf" srcId="{3CB5FBAD-D517-9349-8B32-9D9FCF3545D4}" destId="{4EBC36A9-340A-3B44-B70D-63ADCCA1FDEC}" srcOrd="0" destOrd="1" presId="urn:microsoft.com/office/officeart/2005/8/layout/hList1"/>
    <dgm:cxn modelId="{CEDD4AEF-C40E-BB48-BED8-74A0762D50C8}" type="presOf" srcId="{5B2F34DD-77F4-2144-BB4F-42BA3965A011}" destId="{62806F8D-B255-F34A-8B91-6EB33A0ED9FD}" srcOrd="0" destOrd="0" presId="urn:microsoft.com/office/officeart/2005/8/layout/hList1"/>
    <dgm:cxn modelId="{A8855073-5652-364D-BA08-E85C9F183AA9}" type="presParOf" srcId="{1575963B-7171-AA43-8BA2-F41853BA8730}" destId="{0E19639F-EA2B-CD48-8533-896BBBB68D22}" srcOrd="0" destOrd="0" presId="urn:microsoft.com/office/officeart/2005/8/layout/hList1"/>
    <dgm:cxn modelId="{ECE2D5D6-E158-FF4F-AC9E-8E381CA78152}" type="presParOf" srcId="{0E19639F-EA2B-CD48-8533-896BBBB68D22}" destId="{DE3946DB-5A84-9742-9B64-755BB2C49102}" srcOrd="0" destOrd="0" presId="urn:microsoft.com/office/officeart/2005/8/layout/hList1"/>
    <dgm:cxn modelId="{D082797E-7CF9-2146-94FC-FAE3E970EC54}" type="presParOf" srcId="{0E19639F-EA2B-CD48-8533-896BBBB68D22}" destId="{62806F8D-B255-F34A-8B91-6EB33A0ED9FD}" srcOrd="1" destOrd="0" presId="urn:microsoft.com/office/officeart/2005/8/layout/hList1"/>
    <dgm:cxn modelId="{5DFFF3FD-F40C-A34E-9EEE-D1892EDCDC25}" type="presParOf" srcId="{1575963B-7171-AA43-8BA2-F41853BA8730}" destId="{DD6D0E42-3B2B-AF49-9712-28EE59D7F6B4}" srcOrd="1" destOrd="0" presId="urn:microsoft.com/office/officeart/2005/8/layout/hList1"/>
    <dgm:cxn modelId="{CC294C47-41E4-6B45-909B-8D63D4E30AC1}" type="presParOf" srcId="{1575963B-7171-AA43-8BA2-F41853BA8730}" destId="{9200481F-F327-424D-B020-55C1D94A2696}" srcOrd="2" destOrd="0" presId="urn:microsoft.com/office/officeart/2005/8/layout/hList1"/>
    <dgm:cxn modelId="{DCD0CC8A-5C62-474C-B67E-4D869EB952A0}" type="presParOf" srcId="{9200481F-F327-424D-B020-55C1D94A2696}" destId="{6E9D41C6-382B-084F-92D1-AE11199409DB}" srcOrd="0" destOrd="0" presId="urn:microsoft.com/office/officeart/2005/8/layout/hList1"/>
    <dgm:cxn modelId="{C510D889-F173-A349-9BCA-8A0126D8F2D8}" type="presParOf" srcId="{9200481F-F327-424D-B020-55C1D94A2696}" destId="{CEAE32C6-949C-7149-9CE6-A3D52AE1279F}" srcOrd="1" destOrd="0" presId="urn:microsoft.com/office/officeart/2005/8/layout/hList1"/>
    <dgm:cxn modelId="{44B19DC8-85FB-AD45-AB2C-48020B5AA950}" type="presParOf" srcId="{1575963B-7171-AA43-8BA2-F41853BA8730}" destId="{7FDADA32-76EC-394B-A921-1885EF4D823E}" srcOrd="3" destOrd="0" presId="urn:microsoft.com/office/officeart/2005/8/layout/hList1"/>
    <dgm:cxn modelId="{1BD7FE29-07E2-5946-9D75-4E72C57460D4}" type="presParOf" srcId="{1575963B-7171-AA43-8BA2-F41853BA8730}" destId="{AE1D2AF7-F50F-2B48-8A2C-D314BA5B1C17}" srcOrd="4" destOrd="0" presId="urn:microsoft.com/office/officeart/2005/8/layout/hList1"/>
    <dgm:cxn modelId="{0C67EA20-F266-A440-B481-88E5AD59D364}" type="presParOf" srcId="{AE1D2AF7-F50F-2B48-8A2C-D314BA5B1C17}" destId="{251D0F2C-E4B2-1F46-B03B-BA4826015D86}" srcOrd="0" destOrd="0" presId="urn:microsoft.com/office/officeart/2005/8/layout/hList1"/>
    <dgm:cxn modelId="{85B13067-6147-7948-A351-45B86E401EBB}" type="presParOf" srcId="{AE1D2AF7-F50F-2B48-8A2C-D314BA5B1C17}" destId="{4EBC36A9-340A-3B44-B70D-63ADCCA1FDE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946DB-5A84-9742-9B64-755BB2C49102}">
      <dsp:nvSpPr>
        <dsp:cNvPr id="0" name=""/>
        <dsp:cNvSpPr/>
      </dsp:nvSpPr>
      <dsp:spPr>
        <a:xfrm>
          <a:off x="2251" y="619785"/>
          <a:ext cx="2195583" cy="878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Early Prediction </a:t>
          </a:r>
        </a:p>
      </dsp:txBody>
      <dsp:txXfrm>
        <a:off x="2251" y="619785"/>
        <a:ext cx="2195583" cy="878233"/>
      </dsp:txXfrm>
    </dsp:sp>
    <dsp:sp modelId="{62806F8D-B255-F34A-8B91-6EB33A0ED9FD}">
      <dsp:nvSpPr>
        <dsp:cNvPr id="0" name=""/>
        <dsp:cNvSpPr/>
      </dsp:nvSpPr>
      <dsp:spPr>
        <a:xfrm>
          <a:off x="2251" y="1498018"/>
          <a:ext cx="2195583" cy="33008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solidFill>
                <a:srgbClr val="FF0000"/>
              </a:solidFill>
            </a:rPr>
            <a:t>Problem</a:t>
          </a:r>
          <a:r>
            <a:rPr lang="en-US" sz="1600" kern="1200"/>
            <a:t>: Early-stage predictions (</a:t>
          </a:r>
          <a:r>
            <a:rPr lang="en-US" sz="1600" kern="1200" err="1"/>
            <a:t>OpenABC</a:t>
          </a:r>
          <a:r>
            <a:rPr lang="en-US" sz="1600" kern="1200"/>
            <a:t>-D, SNS) are inaccurate to physical timing effects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 cell placement or routing information, ±60% accuracy [8]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solidFill>
                <a:srgbClr val="00B050"/>
              </a:solidFill>
            </a:rPr>
            <a:t>Solution</a:t>
          </a:r>
          <a:r>
            <a:rPr lang="en-US" sz="1600" kern="1200"/>
            <a:t>: train on post-placement-and-routing timing information</a:t>
          </a:r>
        </a:p>
      </dsp:txBody>
      <dsp:txXfrm>
        <a:off x="2251" y="1498018"/>
        <a:ext cx="2195583" cy="3300862"/>
      </dsp:txXfrm>
    </dsp:sp>
    <dsp:sp modelId="{6E9D41C6-382B-084F-92D1-AE11199409DB}">
      <dsp:nvSpPr>
        <dsp:cNvPr id="0" name=""/>
        <dsp:cNvSpPr/>
      </dsp:nvSpPr>
      <dsp:spPr>
        <a:xfrm>
          <a:off x="2505217" y="619785"/>
          <a:ext cx="2195583" cy="878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Structural Compression</a:t>
          </a:r>
        </a:p>
      </dsp:txBody>
      <dsp:txXfrm>
        <a:off x="2505217" y="619785"/>
        <a:ext cx="2195583" cy="878233"/>
      </dsp:txXfrm>
    </dsp:sp>
    <dsp:sp modelId="{CEAE32C6-949C-7149-9CE6-A3D52AE1279F}">
      <dsp:nvSpPr>
        <dsp:cNvPr id="0" name=""/>
        <dsp:cNvSpPr/>
      </dsp:nvSpPr>
      <dsp:spPr>
        <a:xfrm>
          <a:off x="2505217" y="1498018"/>
          <a:ext cx="2195583" cy="33008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solidFill>
                <a:srgbClr val="FF0000"/>
              </a:solidFill>
            </a:rPr>
            <a:t>Problem</a:t>
          </a:r>
          <a:r>
            <a:rPr lang="en-US" sz="1600" kern="1200"/>
            <a:t>: Path-based models (SNS) can capture local timing paths but miss global node interactions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Leads to </a:t>
          </a:r>
          <a:r>
            <a:rPr lang="en-US" sz="1600" b="0" kern="1200"/>
            <a:t>under-modeling</a:t>
          </a:r>
          <a:r>
            <a:rPr lang="en-US" sz="1600" kern="1200"/>
            <a:t> of WNS/TNS paths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solidFill>
                <a:srgbClr val="00B050"/>
              </a:solidFill>
            </a:rPr>
            <a:t>Solution</a:t>
          </a:r>
          <a:r>
            <a:rPr lang="en-US" sz="1600" kern="1200"/>
            <a:t>: attention-based full-graph regression</a:t>
          </a:r>
        </a:p>
      </dsp:txBody>
      <dsp:txXfrm>
        <a:off x="2505217" y="1498018"/>
        <a:ext cx="2195583" cy="3300862"/>
      </dsp:txXfrm>
    </dsp:sp>
    <dsp:sp modelId="{251D0F2C-E4B2-1F46-B03B-BA4826015D86}">
      <dsp:nvSpPr>
        <dsp:cNvPr id="0" name=""/>
        <dsp:cNvSpPr/>
      </dsp:nvSpPr>
      <dsp:spPr>
        <a:xfrm>
          <a:off x="5008182" y="619785"/>
          <a:ext cx="2195583" cy="878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tx1"/>
              </a:solidFill>
            </a:rPr>
            <a:t>Small, Generic Datasets</a:t>
          </a:r>
        </a:p>
      </dsp:txBody>
      <dsp:txXfrm>
        <a:off x="5008182" y="619785"/>
        <a:ext cx="2195583" cy="878233"/>
      </dsp:txXfrm>
    </dsp:sp>
    <dsp:sp modelId="{4EBC36A9-340A-3B44-B70D-63ADCCA1FDEC}">
      <dsp:nvSpPr>
        <dsp:cNvPr id="0" name=""/>
        <dsp:cNvSpPr/>
      </dsp:nvSpPr>
      <dsp:spPr>
        <a:xfrm>
          <a:off x="5008182" y="1498018"/>
          <a:ext cx="2195583" cy="33008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solidFill>
                <a:srgbClr val="FF0000"/>
              </a:solidFill>
            </a:rPr>
            <a:t>Problem</a:t>
          </a:r>
          <a:r>
            <a:rPr lang="en-US" sz="1600" kern="1200"/>
            <a:t>: All papers rely on methods of synthetically generating training data (EDA recipes, GANs) due to limited availability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solidFill>
                <a:srgbClr val="00B050"/>
              </a:solidFill>
            </a:rPr>
            <a:t>Solution</a:t>
          </a:r>
          <a:r>
            <a:rPr lang="en-US" sz="1600" kern="1200"/>
            <a:t>: In addition to recipes (“How Good…”), use component generators to produce many unique RTL designs</a:t>
          </a:r>
        </a:p>
      </dsp:txBody>
      <dsp:txXfrm>
        <a:off x="5008182" y="1498018"/>
        <a:ext cx="2195583" cy="3300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1A46B-31AA-F442-BEF0-42C1B3EDF794}">
      <dsp:nvSpPr>
        <dsp:cNvPr id="0" name=""/>
        <dsp:cNvSpPr/>
      </dsp:nvSpPr>
      <dsp:spPr>
        <a:xfrm rot="5400000">
          <a:off x="3855436" y="-1385831"/>
          <a:ext cx="1094207" cy="41435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err="1">
              <a:solidFill>
                <a:schemeClr val="tx1"/>
              </a:solidFill>
            </a:rPr>
            <a:t>Yosys</a:t>
          </a:r>
          <a:r>
            <a:rPr lang="en-US" sz="1800" kern="1200">
              <a:solidFill>
                <a:schemeClr val="tx1"/>
              </a:solidFill>
            </a:rPr>
            <a:t> generates an Abstract Syntax Tree (AST)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>
              <a:solidFill>
                <a:schemeClr val="tx1"/>
              </a:solidFill>
            </a:rPr>
            <a:t>Custom parsing engine produces vector and graph-based features</a:t>
          </a:r>
        </a:p>
      </dsp:txBody>
      <dsp:txXfrm rot="-5400000">
        <a:off x="2330757" y="192263"/>
        <a:ext cx="4090152" cy="987377"/>
      </dsp:txXfrm>
    </dsp:sp>
    <dsp:sp modelId="{E74F9C4C-0B27-AD4F-A71E-B76520E0984E}">
      <dsp:nvSpPr>
        <dsp:cNvPr id="0" name=""/>
        <dsp:cNvSpPr/>
      </dsp:nvSpPr>
      <dsp:spPr>
        <a:xfrm>
          <a:off x="0" y="2072"/>
          <a:ext cx="2330756" cy="13677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</a:rPr>
            <a:t>RTL Feature Extraction</a:t>
          </a:r>
        </a:p>
      </dsp:txBody>
      <dsp:txXfrm>
        <a:off x="66768" y="68840"/>
        <a:ext cx="2197220" cy="1234222"/>
      </dsp:txXfrm>
    </dsp:sp>
    <dsp:sp modelId="{B2CA22FB-605C-F94C-A801-224DCE950EDE}">
      <dsp:nvSpPr>
        <dsp:cNvPr id="0" name=""/>
        <dsp:cNvSpPr/>
      </dsp:nvSpPr>
      <dsp:spPr>
        <a:xfrm rot="5400000">
          <a:off x="3855436" y="50314"/>
          <a:ext cx="1094207" cy="41435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err="1">
              <a:solidFill>
                <a:schemeClr val="tx1"/>
              </a:solidFill>
            </a:rPr>
            <a:t>Yosys</a:t>
          </a:r>
          <a:r>
            <a:rPr lang="en-US" sz="1800" kern="1200">
              <a:solidFill>
                <a:schemeClr val="tx1"/>
              </a:solidFill>
            </a:rPr>
            <a:t> for logic synthesis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err="1">
              <a:solidFill>
                <a:schemeClr val="tx1"/>
              </a:solidFill>
            </a:rPr>
            <a:t>OpenROAD</a:t>
          </a:r>
          <a:r>
            <a:rPr lang="en-US" sz="1800" kern="1200">
              <a:solidFill>
                <a:schemeClr val="tx1"/>
              </a:solidFill>
            </a:rPr>
            <a:t> for physical synthesis</a:t>
          </a:r>
        </a:p>
      </dsp:txBody>
      <dsp:txXfrm rot="-5400000">
        <a:off x="2330757" y="1628409"/>
        <a:ext cx="4090152" cy="987377"/>
      </dsp:txXfrm>
    </dsp:sp>
    <dsp:sp modelId="{433A882A-1795-1C40-B8D8-B971D57D449B}">
      <dsp:nvSpPr>
        <dsp:cNvPr id="0" name=""/>
        <dsp:cNvSpPr/>
      </dsp:nvSpPr>
      <dsp:spPr>
        <a:xfrm>
          <a:off x="0" y="1438219"/>
          <a:ext cx="2330756" cy="13677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</a:rPr>
            <a:t>Data Generation</a:t>
          </a:r>
        </a:p>
      </dsp:txBody>
      <dsp:txXfrm>
        <a:off x="66768" y="1504987"/>
        <a:ext cx="2197220" cy="1234222"/>
      </dsp:txXfrm>
    </dsp:sp>
    <dsp:sp modelId="{E8F27D6E-D9F6-DD41-9AD3-32D36A8DAC25}">
      <dsp:nvSpPr>
        <dsp:cNvPr id="0" name=""/>
        <dsp:cNvSpPr/>
      </dsp:nvSpPr>
      <dsp:spPr>
        <a:xfrm rot="5400000">
          <a:off x="3855436" y="1486461"/>
          <a:ext cx="1094207" cy="41435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>
              <a:solidFill>
                <a:schemeClr val="tx1"/>
              </a:solidFill>
            </a:rPr>
            <a:t>Vector-based models: linear regression and MLP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>
              <a:solidFill>
                <a:schemeClr val="tx1"/>
              </a:solidFill>
            </a:rPr>
            <a:t>Graph-based model: graph attention network (GAT)</a:t>
          </a:r>
        </a:p>
      </dsp:txBody>
      <dsp:txXfrm rot="-5400000">
        <a:off x="2330757" y="3064556"/>
        <a:ext cx="4090152" cy="987377"/>
      </dsp:txXfrm>
    </dsp:sp>
    <dsp:sp modelId="{CA4C0592-9BA6-1A47-8855-92E526401EC1}">
      <dsp:nvSpPr>
        <dsp:cNvPr id="0" name=""/>
        <dsp:cNvSpPr/>
      </dsp:nvSpPr>
      <dsp:spPr>
        <a:xfrm>
          <a:off x="0" y="2874365"/>
          <a:ext cx="2330756" cy="13677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tx1"/>
              </a:solidFill>
            </a:rPr>
            <a:t>Model Training</a:t>
          </a:r>
        </a:p>
      </dsp:txBody>
      <dsp:txXfrm>
        <a:off x="66768" y="2941133"/>
        <a:ext cx="2197220" cy="12342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946DB-5A84-9742-9B64-755BB2C49102}">
      <dsp:nvSpPr>
        <dsp:cNvPr id="0" name=""/>
        <dsp:cNvSpPr/>
      </dsp:nvSpPr>
      <dsp:spPr>
        <a:xfrm>
          <a:off x="21807" y="670340"/>
          <a:ext cx="3028472" cy="9625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chemeClr val="tx1"/>
              </a:solidFill>
              <a:latin typeface="+mj-lt"/>
            </a:rPr>
            <a:t>Pending</a:t>
          </a:r>
          <a:r>
            <a:rPr lang="en-US" sz="2200" b="1" kern="1200" baseline="0">
              <a:solidFill>
                <a:schemeClr val="tx1"/>
              </a:solidFill>
              <a:latin typeface="+mj-lt"/>
            </a:rPr>
            <a:t> Experiments</a:t>
          </a:r>
          <a:endParaRPr lang="en-US" sz="2200" b="1" kern="1200">
            <a:solidFill>
              <a:schemeClr val="tx1"/>
            </a:solidFill>
            <a:latin typeface="+mj-lt"/>
          </a:endParaRPr>
        </a:p>
      </dsp:txBody>
      <dsp:txXfrm>
        <a:off x="21807" y="670340"/>
        <a:ext cx="3028472" cy="962542"/>
      </dsp:txXfrm>
    </dsp:sp>
    <dsp:sp modelId="{62806F8D-B255-F34A-8B91-6EB33A0ED9FD}">
      <dsp:nvSpPr>
        <dsp:cNvPr id="0" name=""/>
        <dsp:cNvSpPr/>
      </dsp:nvSpPr>
      <dsp:spPr>
        <a:xfrm>
          <a:off x="5287" y="1632883"/>
          <a:ext cx="3061511" cy="29884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Further ablation studies with number of GAT layers/attention heads and tuning vector model hyperparameters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Gather a larger spread of data with more nonzero TNS values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Manage the difference in dimensionality between graph inputs</a:t>
          </a:r>
        </a:p>
      </dsp:txBody>
      <dsp:txXfrm>
        <a:off x="5287" y="1632883"/>
        <a:ext cx="3061511" cy="2988498"/>
      </dsp:txXfrm>
    </dsp:sp>
    <dsp:sp modelId="{6E9D41C6-382B-084F-92D1-AE11199409DB}">
      <dsp:nvSpPr>
        <dsp:cNvPr id="0" name=""/>
        <dsp:cNvSpPr/>
      </dsp:nvSpPr>
      <dsp:spPr>
        <a:xfrm>
          <a:off x="3414974" y="663384"/>
          <a:ext cx="3163155" cy="9625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chemeClr val="tx1"/>
              </a:solidFill>
              <a:latin typeface="+mj-lt"/>
            </a:rPr>
            <a:t>Limitations</a:t>
          </a:r>
        </a:p>
      </dsp:txBody>
      <dsp:txXfrm>
        <a:off x="3414974" y="663384"/>
        <a:ext cx="3163155" cy="962542"/>
      </dsp:txXfrm>
    </dsp:sp>
    <dsp:sp modelId="{CEAE32C6-949C-7149-9CE6-A3D52AE1279F}">
      <dsp:nvSpPr>
        <dsp:cNvPr id="0" name=""/>
        <dsp:cNvSpPr/>
      </dsp:nvSpPr>
      <dsp:spPr>
        <a:xfrm>
          <a:off x="3403689" y="1625927"/>
          <a:ext cx="3185727" cy="30024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u="sng" kern="1200">
              <a:solidFill>
                <a:schemeClr val="tx1"/>
              </a:solidFill>
              <a:latin typeface="+mj-lt"/>
            </a:rPr>
            <a:t>Restricted to timing </a:t>
          </a:r>
          <a:r>
            <a:rPr lang="en-US" sz="1800" kern="1200">
              <a:solidFill>
                <a:schemeClr val="tx1"/>
              </a:solidFill>
              <a:latin typeface="+mj-lt"/>
            </a:rPr>
            <a:t>prediction, no area or power regression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Limited </a:t>
          </a:r>
          <a:r>
            <a:rPr lang="en-US" sz="1800" u="sng" kern="1200">
              <a:solidFill>
                <a:schemeClr val="tx1"/>
              </a:solidFill>
              <a:latin typeface="+mj-lt"/>
            </a:rPr>
            <a:t>dataset diversity </a:t>
          </a:r>
          <a:r>
            <a:rPr lang="en-US" sz="1800" kern="1200">
              <a:solidFill>
                <a:schemeClr val="tx1"/>
              </a:solidFill>
              <a:latin typeface="+mj-lt"/>
            </a:rPr>
            <a:t>– most benchmarks are communication interfaces and toy sequential circuits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Ground truth generated from open-source tool – </a:t>
          </a:r>
          <a:r>
            <a:rPr lang="en-US" sz="1800" u="sng" kern="1200">
              <a:solidFill>
                <a:schemeClr val="tx1"/>
              </a:solidFill>
              <a:latin typeface="+mj-lt"/>
            </a:rPr>
            <a:t>less accurate</a:t>
          </a:r>
          <a:r>
            <a:rPr lang="en-US" sz="1800" kern="1200">
              <a:solidFill>
                <a:schemeClr val="tx1"/>
              </a:solidFill>
              <a:latin typeface="+mj-lt"/>
            </a:rPr>
            <a:t> than industrial tools</a:t>
          </a:r>
        </a:p>
      </dsp:txBody>
      <dsp:txXfrm>
        <a:off x="3403689" y="1625927"/>
        <a:ext cx="3185727" cy="3002410"/>
      </dsp:txXfrm>
    </dsp:sp>
    <dsp:sp modelId="{251D0F2C-E4B2-1F46-B03B-BA4826015D86}">
      <dsp:nvSpPr>
        <dsp:cNvPr id="0" name=""/>
        <dsp:cNvSpPr/>
      </dsp:nvSpPr>
      <dsp:spPr>
        <a:xfrm>
          <a:off x="6926306" y="656646"/>
          <a:ext cx="3303542" cy="9625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solidFill>
                <a:schemeClr val="tx1"/>
              </a:solidFill>
              <a:latin typeface="+mj-lt"/>
            </a:rPr>
            <a:t>Future Work</a:t>
          </a:r>
        </a:p>
      </dsp:txBody>
      <dsp:txXfrm>
        <a:off x="6926306" y="656646"/>
        <a:ext cx="3303542" cy="962542"/>
      </dsp:txXfrm>
    </dsp:sp>
    <dsp:sp modelId="{4EBC36A9-340A-3B44-B70D-63ADCCA1FDEC}">
      <dsp:nvSpPr>
        <dsp:cNvPr id="0" name=""/>
        <dsp:cNvSpPr/>
      </dsp:nvSpPr>
      <dsp:spPr>
        <a:xfrm>
          <a:off x="6931720" y="1619188"/>
          <a:ext cx="3292714" cy="30158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Increase number of synthesis </a:t>
          </a:r>
          <a:r>
            <a:rPr lang="en-US" sz="1800" u="sng" kern="1200">
              <a:solidFill>
                <a:schemeClr val="tx1"/>
              </a:solidFill>
              <a:latin typeface="+mj-lt"/>
            </a:rPr>
            <a:t>recipe knobs </a:t>
          </a:r>
          <a:r>
            <a:rPr lang="en-US" sz="1800" kern="1200">
              <a:solidFill>
                <a:schemeClr val="tx1"/>
              </a:solidFill>
              <a:latin typeface="+mj-lt"/>
            </a:rPr>
            <a:t>– could incorporate more physical constraints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Specialize </a:t>
          </a:r>
          <a:r>
            <a:rPr lang="en-US" sz="1800" kern="1200" err="1">
              <a:solidFill>
                <a:schemeClr val="tx1"/>
              </a:solidFill>
              <a:latin typeface="+mj-lt"/>
            </a:rPr>
            <a:t>QoRNet</a:t>
          </a:r>
          <a:r>
            <a:rPr lang="en-US" sz="1800" kern="1200">
              <a:solidFill>
                <a:schemeClr val="tx1"/>
              </a:solidFill>
              <a:latin typeface="+mj-lt"/>
            </a:rPr>
            <a:t> to timing/area prediction for </a:t>
          </a:r>
          <a:r>
            <a:rPr lang="en-US" sz="1800" u="sng" kern="1200" err="1">
              <a:solidFill>
                <a:schemeClr val="tx1"/>
              </a:solidFill>
              <a:latin typeface="+mj-lt"/>
            </a:rPr>
            <a:t>datapath</a:t>
          </a:r>
          <a:r>
            <a:rPr lang="en-US" sz="1800" u="sng" kern="1200">
              <a:solidFill>
                <a:schemeClr val="tx1"/>
              </a:solidFill>
              <a:latin typeface="+mj-lt"/>
            </a:rPr>
            <a:t> circuits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solidFill>
                <a:schemeClr val="tx1"/>
              </a:solidFill>
              <a:latin typeface="+mj-lt"/>
            </a:rPr>
            <a:t>Explore additional intermediate graph </a:t>
          </a:r>
          <a:r>
            <a:rPr lang="en-US" sz="1800" u="sng" kern="1200">
              <a:solidFill>
                <a:schemeClr val="tx1"/>
              </a:solidFill>
              <a:latin typeface="+mj-lt"/>
            </a:rPr>
            <a:t>representations</a:t>
          </a:r>
          <a:r>
            <a:rPr lang="en-US" sz="1800" kern="1200">
              <a:solidFill>
                <a:schemeClr val="tx1"/>
              </a:solidFill>
              <a:latin typeface="+mj-lt"/>
            </a:rPr>
            <a:t> of circuits</a:t>
          </a:r>
        </a:p>
      </dsp:txBody>
      <dsp:txXfrm>
        <a:off x="6931720" y="1619188"/>
        <a:ext cx="3292714" cy="3015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AB623-8E28-8E4E-BC8E-1BE7E89D55FC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5B705-1AD1-7146-931C-55F9340C4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8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66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Cory</a:t>
            </a:r>
          </a:p>
          <a:p>
            <a:endParaRPr lang="en-US" dirty="0"/>
          </a:p>
          <a:p>
            <a:r>
              <a:rPr lang="en-US" dirty="0"/>
              <a:t>Presented by Deandre</a:t>
            </a:r>
          </a:p>
          <a:p>
            <a:endParaRPr lang="en-US" dirty="0"/>
          </a:p>
          <a:p>
            <a:r>
              <a:rPr lang="en-US" dirty="0"/>
              <a:t>1 slide (2 points)</a:t>
            </a:r>
          </a:p>
          <a:p>
            <a:endParaRPr lang="en-US" dirty="0"/>
          </a:p>
          <a:p>
            <a:r>
              <a:rPr lang="en-US" dirty="0"/>
              <a:t> Problem Motivation:</a:t>
            </a:r>
          </a:p>
          <a:p>
            <a:pPr lvl="1"/>
            <a:r>
              <a:rPr lang="en-US" dirty="0"/>
              <a:t> What is the problem?</a:t>
            </a:r>
          </a:p>
          <a:p>
            <a:pPr lvl="1"/>
            <a:r>
              <a:rPr lang="en-US" dirty="0"/>
              <a:t> Why does it matter?</a:t>
            </a:r>
          </a:p>
          <a:p>
            <a:pPr lvl="1"/>
            <a:r>
              <a:rPr lang="en-US" dirty="0"/>
              <a:t> Where is its applications and implications?</a:t>
            </a:r>
          </a:p>
          <a:p>
            <a:r>
              <a:rPr lang="en-US" dirty="0"/>
              <a:t> Guidelines:</a:t>
            </a:r>
          </a:p>
          <a:p>
            <a:pPr lvl="1"/>
            <a:r>
              <a:rPr lang="en-US" dirty="0"/>
              <a:t> Explain in simple language avoiding too many jargons</a:t>
            </a:r>
          </a:p>
          <a:p>
            <a:pPr lvl="1"/>
            <a:r>
              <a:rPr lang="en-US" dirty="0"/>
              <a:t> Must use one motivating figure that is most representative of the problem motivation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22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CC54-1913-556A-41EA-72D57075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960E8-B1D2-CDA7-80D1-8C6130521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D8F15-7807-D7E1-0D8C-69D67A05C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Pablo</a:t>
            </a:r>
          </a:p>
          <a:p>
            <a:endParaRPr lang="en-US"/>
          </a:p>
          <a:p>
            <a:r>
              <a:rPr lang="en-US"/>
              <a:t>1-2 slides, (4 points)</a:t>
            </a:r>
          </a:p>
          <a:p>
            <a:endParaRPr lang="en-US"/>
          </a:p>
          <a:p>
            <a:r>
              <a:rPr lang="en-US"/>
              <a:t> Related work overview:</a:t>
            </a:r>
          </a:p>
          <a:p>
            <a:pPr lvl="1"/>
            <a:r>
              <a:rPr lang="en-US"/>
              <a:t> At least 3 related works</a:t>
            </a:r>
          </a:p>
          <a:p>
            <a:pPr lvl="1"/>
            <a:r>
              <a:rPr lang="en-US"/>
              <a:t> A short description of what each method does that conveys the key idea of</a:t>
            </a:r>
          </a:p>
          <a:p>
            <a:pPr lvl="1"/>
            <a:r>
              <a:rPr lang="en-US"/>
              <a:t>the work</a:t>
            </a:r>
          </a:p>
          <a:p>
            <a:pPr lvl="1"/>
            <a:endParaRPr lang="en-US"/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Focus on the key details: it could be an equation or a representative figure along with brief textual detail</a:t>
            </a:r>
          </a:p>
          <a:p>
            <a:pPr lvl="1"/>
            <a:r>
              <a:rPr lang="en-US"/>
              <a:t> Cite each work in the following format</a:t>
            </a:r>
          </a:p>
          <a:p>
            <a:pPr lvl="1"/>
            <a:r>
              <a:rPr lang="en-US"/>
              <a:t>	 Authors, ``</a:t>
            </a:r>
            <a:r>
              <a:rPr lang="en-US" err="1"/>
              <a:t>tiltle</a:t>
            </a:r>
            <a:r>
              <a:rPr lang="en-US"/>
              <a:t> of the paper”, Journal/Conference name, Year</a:t>
            </a:r>
          </a:p>
          <a:p>
            <a:pPr lvl="1"/>
            <a:r>
              <a:rPr lang="en-US"/>
              <a:t> Must present one comparison table with suggested columns:</a:t>
            </a:r>
          </a:p>
          <a:p>
            <a:pPr lvl="2"/>
            <a:r>
              <a:rPr lang="en-US"/>
              <a:t> Paper/Method</a:t>
            </a:r>
          </a:p>
          <a:p>
            <a:pPr lvl="2"/>
            <a:r>
              <a:rPr lang="en-US"/>
              <a:t> Main Idea</a:t>
            </a:r>
          </a:p>
          <a:p>
            <a:pPr lvl="2"/>
            <a:r>
              <a:rPr lang="en-US"/>
              <a:t> Strength</a:t>
            </a:r>
          </a:p>
          <a:p>
            <a:pPr lvl="2"/>
            <a:r>
              <a:rPr lang="en-US"/>
              <a:t> Limitation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56188-1DC8-A000-CA6F-3E079F93C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9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78D2-8DB9-B581-6E95-AF3609FC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ED1C5-4E9C-EAF6-88E2-BF6187DFB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428D4-69E6-7E9F-1E70-119BCDC90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Pablo</a:t>
            </a:r>
          </a:p>
          <a:p>
            <a:endParaRPr lang="en-US"/>
          </a:p>
          <a:p>
            <a:r>
              <a:rPr lang="en-US"/>
              <a:t>1-2 slides, (4 points)</a:t>
            </a:r>
          </a:p>
          <a:p>
            <a:endParaRPr lang="en-US"/>
          </a:p>
          <a:p>
            <a:r>
              <a:rPr lang="en-US"/>
              <a:t> Related work overview:</a:t>
            </a:r>
          </a:p>
          <a:p>
            <a:pPr lvl="1"/>
            <a:r>
              <a:rPr lang="en-US"/>
              <a:t> At least 3 related works</a:t>
            </a:r>
          </a:p>
          <a:p>
            <a:pPr lvl="1"/>
            <a:r>
              <a:rPr lang="en-US"/>
              <a:t> A short description of what each method does that conveys the key idea of</a:t>
            </a:r>
          </a:p>
          <a:p>
            <a:pPr lvl="1"/>
            <a:r>
              <a:rPr lang="en-US"/>
              <a:t>the work</a:t>
            </a:r>
          </a:p>
          <a:p>
            <a:pPr lvl="1"/>
            <a:endParaRPr lang="en-US"/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Focus on the key details: it could be an equation or a representative figure along with brief textual detail</a:t>
            </a:r>
          </a:p>
          <a:p>
            <a:pPr lvl="1"/>
            <a:r>
              <a:rPr lang="en-US"/>
              <a:t> Cite each work in the following format</a:t>
            </a:r>
          </a:p>
          <a:p>
            <a:pPr lvl="1"/>
            <a:r>
              <a:rPr lang="en-US"/>
              <a:t>	 Authors, ``</a:t>
            </a:r>
            <a:r>
              <a:rPr lang="en-US" err="1"/>
              <a:t>tiltle</a:t>
            </a:r>
            <a:r>
              <a:rPr lang="en-US"/>
              <a:t> of the paper”, Journal/Conference name, Year</a:t>
            </a:r>
          </a:p>
          <a:p>
            <a:pPr lvl="1"/>
            <a:r>
              <a:rPr lang="en-US"/>
              <a:t> Must present one comparison table with suggested columns:</a:t>
            </a:r>
          </a:p>
          <a:p>
            <a:pPr lvl="2"/>
            <a:r>
              <a:rPr lang="en-US"/>
              <a:t> Paper/Method</a:t>
            </a:r>
          </a:p>
          <a:p>
            <a:pPr lvl="2"/>
            <a:r>
              <a:rPr lang="en-US"/>
              <a:t> Main Idea</a:t>
            </a:r>
          </a:p>
          <a:p>
            <a:pPr lvl="2"/>
            <a:r>
              <a:rPr lang="en-US"/>
              <a:t> Strength</a:t>
            </a:r>
          </a:p>
          <a:p>
            <a:pPr lvl="2"/>
            <a:r>
              <a:rPr lang="en-US"/>
              <a:t> Limitation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44BF5-95FC-0922-D229-D50981382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40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AD20-89F5-AC47-B813-1FE24D87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40222-B597-E3F2-CBC4-4DA47A9EA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F1BDB-439A-A443-D748-2EC528890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Cory and DeAndre</a:t>
            </a:r>
          </a:p>
          <a:p>
            <a:endParaRPr lang="en-US"/>
          </a:p>
          <a:p>
            <a:r>
              <a:rPr lang="en-US"/>
              <a:t>1 slide, 2 points</a:t>
            </a:r>
          </a:p>
          <a:p>
            <a:endParaRPr lang="en-US"/>
          </a:p>
          <a:p>
            <a:r>
              <a:rPr lang="en-US"/>
              <a:t> What is the technical gap you found out based on the limitations of the existing method?</a:t>
            </a:r>
          </a:p>
          <a:p>
            <a:pPr lvl="1"/>
            <a:r>
              <a:rPr lang="en-US"/>
              <a:t> What motivates your idea?</a:t>
            </a:r>
          </a:p>
          <a:p>
            <a:pPr lvl="1"/>
            <a:r>
              <a:rPr lang="en-US"/>
              <a:t> This slide should make the need of your project/proposed work more obvious, clearly convincing you are not trying something ``random”</a:t>
            </a:r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When you state the technical gap, it should not be merely based on statements like “poor performance for classification”</a:t>
            </a:r>
          </a:p>
          <a:p>
            <a:pPr lvl="1"/>
            <a:r>
              <a:rPr lang="en-US"/>
              <a:t> Show table/figure/illustration, anything that provides concrete proof</a:t>
            </a:r>
          </a:p>
          <a:p>
            <a:pPr lvl="1"/>
            <a:r>
              <a:rPr lang="en-US"/>
              <a:t> Must use at least one figure that is most representative of the technical gap/your method’s motivation in this figure</a:t>
            </a:r>
          </a:p>
          <a:p>
            <a:pPr lvl="1"/>
            <a:endParaRPr lang="en-US"/>
          </a:p>
          <a:p>
            <a:pPr lvl="1"/>
            <a:r>
              <a:rPr lang="en-US"/>
              <a:t>Predicting </a:t>
            </a:r>
            <a:r>
              <a:rPr lang="en-US" err="1"/>
              <a:t>QoR</a:t>
            </a:r>
            <a:r>
              <a:rPr lang="en-US"/>
              <a:t> for the same design across different synthesis recipes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1DEEF-A2D0-BD37-D555-01EC91D63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98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E794-A85C-7DE2-9892-ED2A8001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FE5F7-C54C-898B-97DA-0DB228ACE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B0ED3-DA2F-3A8E-B7D2-B82F2AAB3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</a:t>
            </a:r>
          </a:p>
          <a:p>
            <a:endParaRPr lang="en-US" dirty="0"/>
          </a:p>
          <a:p>
            <a:r>
              <a:rPr lang="en-US" dirty="0"/>
              <a:t>1 slide, 3 points</a:t>
            </a:r>
          </a:p>
          <a:p>
            <a:endParaRPr lang="en-US" dirty="0"/>
          </a:p>
          <a:p>
            <a:r>
              <a:rPr lang="en-US" dirty="0"/>
              <a:t> Overview diagram of your proposed method’s pipeline</a:t>
            </a:r>
          </a:p>
          <a:p>
            <a:pPr lvl="1"/>
            <a:r>
              <a:rPr lang="en-US" dirty="0"/>
              <a:t> Input -&gt; Model components -&gt; Output</a:t>
            </a:r>
          </a:p>
          <a:p>
            <a:pPr lvl="1"/>
            <a:r>
              <a:rPr lang="en-US" dirty="0"/>
              <a:t> Highlight main components and add one or two lines to describe them</a:t>
            </a:r>
          </a:p>
          <a:p>
            <a:pPr lvl="1"/>
            <a:endParaRPr lang="en-US" dirty="0"/>
          </a:p>
          <a:p>
            <a:r>
              <a:rPr lang="en-US" dirty="0"/>
              <a:t> Guidelines:</a:t>
            </a:r>
          </a:p>
          <a:p>
            <a:pPr lvl="1"/>
            <a:r>
              <a:rPr lang="en-US" dirty="0"/>
              <a:t> Must use the block diagram figure that captures the overall pipeline of your deep learning architecture</a:t>
            </a:r>
          </a:p>
          <a:p>
            <a:pPr lvl="1"/>
            <a:r>
              <a:rPr lang="en-US" dirty="0"/>
              <a:t> Focus on the main idea of the proposed solution, not every implementation detail here</a:t>
            </a:r>
          </a:p>
          <a:p>
            <a:pPr lvl="1"/>
            <a:r>
              <a:rPr lang="en-US" dirty="0"/>
              <a:t> This should answer what your approach is and what is innovative about 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26696-9D73-3648-F809-62CA7496C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1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Youssef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33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7560-0481-67AB-EC11-6EF32CE8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F762F-B874-0FD9-DE63-CE3C9A4A3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3459B-80CD-11C6-CB76-B3A436FB7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DeAndre</a:t>
            </a:r>
          </a:p>
          <a:p>
            <a:endParaRPr lang="en-US"/>
          </a:p>
          <a:p>
            <a:r>
              <a:rPr lang="en-US"/>
              <a:t>1 slide, 3 points</a:t>
            </a:r>
          </a:p>
          <a:p>
            <a:endParaRPr lang="en-US"/>
          </a:p>
          <a:p>
            <a:r>
              <a:rPr lang="en-US"/>
              <a:t>I added 1 slide for AST parsing, 1 slide for linear models, and 1 slide for GNN model (we are allowed 2-3 extra slides)</a:t>
            </a:r>
          </a:p>
          <a:p>
            <a:endParaRPr lang="en-US"/>
          </a:p>
          <a:p>
            <a:r>
              <a:rPr lang="en-US"/>
              <a:t> More technical details about the proposed approach</a:t>
            </a:r>
          </a:p>
          <a:p>
            <a:pPr lvl="1"/>
            <a:r>
              <a:rPr lang="en-US"/>
              <a:t> How did you train your model</a:t>
            </a:r>
          </a:p>
          <a:p>
            <a:pPr lvl="1"/>
            <a:r>
              <a:rPr lang="en-US"/>
              <a:t> Write explicitly the training loss optimization equation here</a:t>
            </a:r>
          </a:p>
          <a:p>
            <a:pPr lvl="1"/>
            <a:r>
              <a:rPr lang="en-US"/>
              <a:t> Clearly introduce relevant mathematical notations, define them and use them correctly</a:t>
            </a:r>
          </a:p>
          <a:p>
            <a:pPr lvl="1"/>
            <a:r>
              <a:rPr lang="en-US"/>
              <a:t> Convey why your method is different or innovative compared to the existing works you studied in slides 2-3</a:t>
            </a:r>
          </a:p>
          <a:p>
            <a:pPr lvl="1"/>
            <a:endParaRPr lang="en-US"/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Training approach must be made explicitly clear with the training loss optimization problem</a:t>
            </a:r>
          </a:p>
          <a:p>
            <a:pPr lvl="1"/>
            <a:r>
              <a:rPr lang="en-US"/>
              <a:t> This should clearly show and highlight you are not just re-running an existing paper/just simply changing some hyperparameters in the architecture (e.g., using 3 layers instead 2 layers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 lvl="2"/>
            <a:endParaRPr lang="en-US"/>
          </a:p>
          <a:p>
            <a:pPr lvl="2"/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84258-65DC-1BC1-3CA8-618019385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24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4C99-F548-D03B-F5F8-17F27470C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C4C79-F9C6-BA13-E6D4-464983F4A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87B36-9BF0-5CC2-AEF5-0496AF157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Cory</a:t>
            </a:r>
          </a:p>
          <a:p>
            <a:endParaRPr lang="en-US"/>
          </a:p>
          <a:p>
            <a:r>
              <a:rPr lang="en-US"/>
              <a:t>Presented by Cory</a:t>
            </a:r>
          </a:p>
          <a:p>
            <a:endParaRPr lang="en-US"/>
          </a:p>
          <a:p>
            <a:r>
              <a:rPr lang="en-US"/>
              <a:t>1 slide, 3 points</a:t>
            </a:r>
          </a:p>
          <a:p>
            <a:endParaRPr lang="en-US"/>
          </a:p>
          <a:p>
            <a:r>
              <a:rPr lang="en-US"/>
              <a:t>I added 1 slide for AST parsing, 1 slide for linear models, and 1 slide for GNN model (we are allowed 2-3 extra slides)</a:t>
            </a:r>
          </a:p>
          <a:p>
            <a:endParaRPr lang="en-US"/>
          </a:p>
          <a:p>
            <a:r>
              <a:rPr lang="en-US"/>
              <a:t> More technical details about the proposed approach</a:t>
            </a:r>
          </a:p>
          <a:p>
            <a:pPr lvl="1"/>
            <a:r>
              <a:rPr lang="en-US"/>
              <a:t> How did you train your model</a:t>
            </a:r>
          </a:p>
          <a:p>
            <a:pPr lvl="1"/>
            <a:r>
              <a:rPr lang="en-US"/>
              <a:t> Write explicitly the training loss optimization equation here</a:t>
            </a:r>
          </a:p>
          <a:p>
            <a:pPr lvl="1"/>
            <a:r>
              <a:rPr lang="en-US"/>
              <a:t> Clearly introduce relevant mathematical notations, define them and use them correctly</a:t>
            </a:r>
          </a:p>
          <a:p>
            <a:pPr lvl="1"/>
            <a:r>
              <a:rPr lang="en-US"/>
              <a:t> Convey why your method is different or innovative compared to the existing works you studied in slides 2-3</a:t>
            </a:r>
          </a:p>
          <a:p>
            <a:pPr lvl="1"/>
            <a:endParaRPr lang="en-US"/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Training approach must be made explicitly clear with the training loss optimization problem</a:t>
            </a:r>
          </a:p>
          <a:p>
            <a:pPr lvl="1"/>
            <a:r>
              <a:rPr lang="en-US"/>
              <a:t> This should clearly show and highlight you are not just re-running an existing paper/just simply changing some hyperparameters in the architecture (e.g., using 3 layers instead 2 layers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Model ablation studies: switching from </a:t>
            </a:r>
            <a:r>
              <a:rPr lang="en-US" err="1"/>
              <a:t>MSEloss</a:t>
            </a:r>
            <a:r>
              <a:rPr lang="en-US"/>
              <a:t> to SmoothL1Loss improved prediction accuracy by 4x (less </a:t>
            </a:r>
            <a:r>
              <a:rPr lang="en-US" err="1"/>
              <a:t>sensititve</a:t>
            </a:r>
            <a:r>
              <a:rPr lang="en-US"/>
              <a:t> </a:t>
            </a:r>
            <a:r>
              <a:rPr lang="en-US" err="1"/>
              <a:t>toou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Each node has 3 numeric features and 2 categorical features, </a:t>
            </a:r>
          </a:p>
          <a:p>
            <a:pPr lvl="1"/>
            <a:r>
              <a:rPr lang="en-US"/>
              <a:t>Categorical features are converted to an embedding vector (learned dense representation of each category), and then the synthesis recipe is broadcast to each node</a:t>
            </a:r>
          </a:p>
          <a:p>
            <a:pPr lvl="1"/>
            <a:r>
              <a:rPr lang="en-US"/>
              <a:t>Dropout used between GAT layers to reduce overfitting, which was observed to be common during training without</a:t>
            </a:r>
          </a:p>
          <a:p>
            <a:pPr lvl="1"/>
            <a:endParaRPr lang="en-US"/>
          </a:p>
          <a:p>
            <a:pPr lvl="1"/>
            <a:r>
              <a:rPr lang="en-US"/>
              <a:t>Combination of mean pooling and max pooling is used at the GAT output – capture the typical node behavior and the dominant node feature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F2351-A0E4-C31D-BA97-671E0CE66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57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20B5-5396-789C-E792-D324D837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E7988-ED9D-383B-7280-AFAE5BCD6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68C3B-10BB-CA0B-DF00-BB5776BE0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DeAndre</a:t>
            </a:r>
          </a:p>
          <a:p>
            <a:endParaRPr lang="en-US"/>
          </a:p>
          <a:p>
            <a:r>
              <a:rPr lang="en-US"/>
              <a:t>1 slide, 3 points</a:t>
            </a:r>
          </a:p>
          <a:p>
            <a:endParaRPr lang="en-US"/>
          </a:p>
          <a:p>
            <a:r>
              <a:rPr lang="en-US"/>
              <a:t>I added 1 slide for AST parsing, 1 slide for linear models, and 1 slide for GNN model (we are allowed 2-3 extra slides)</a:t>
            </a:r>
          </a:p>
          <a:p>
            <a:endParaRPr lang="en-US"/>
          </a:p>
          <a:p>
            <a:r>
              <a:rPr lang="en-US"/>
              <a:t> More technical details about the proposed approach</a:t>
            </a:r>
          </a:p>
          <a:p>
            <a:pPr lvl="1"/>
            <a:r>
              <a:rPr lang="en-US"/>
              <a:t> How did you train your model</a:t>
            </a:r>
          </a:p>
          <a:p>
            <a:pPr lvl="1"/>
            <a:r>
              <a:rPr lang="en-US"/>
              <a:t> Write explicitly the training loss optimization equation here</a:t>
            </a:r>
          </a:p>
          <a:p>
            <a:pPr lvl="1"/>
            <a:r>
              <a:rPr lang="en-US"/>
              <a:t> Clearly introduce relevant mathematical notations, define them and use them correctly</a:t>
            </a:r>
          </a:p>
          <a:p>
            <a:pPr lvl="1"/>
            <a:r>
              <a:rPr lang="en-US"/>
              <a:t> Convey why your method is different or innovative compared to the existing works you studied in slides 2-3</a:t>
            </a:r>
          </a:p>
          <a:p>
            <a:pPr lvl="1"/>
            <a:endParaRPr lang="en-US"/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Training approach must be made explicitly clear with the training loss optimization problem</a:t>
            </a:r>
          </a:p>
          <a:p>
            <a:pPr lvl="1"/>
            <a:r>
              <a:rPr lang="en-US"/>
              <a:t> This should clearly show and highlight you are not just re-running an existing paper/just simply changing some hyperparameters in the architecture (e.g., using 3 layers instead 2 layers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 lvl="2"/>
            <a:endParaRPr lang="en-US"/>
          </a:p>
          <a:p>
            <a:pPr lvl="2"/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9D18F-2B91-9ADA-B567-926D69C67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41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CED2-1701-1ED0-3265-4768351B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345E5-EDC8-9071-FA12-F5DB48831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D2B26-F066-0ABD-BDEA-6B0680382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Presented by Cory</a:t>
            </a:r>
          </a:p>
          <a:p>
            <a:endParaRPr lang="en-US" dirty="0"/>
          </a:p>
          <a:p>
            <a:r>
              <a:rPr lang="en-US" dirty="0"/>
              <a:t>1 slide, 2 points</a:t>
            </a:r>
          </a:p>
          <a:p>
            <a:endParaRPr lang="en-US" dirty="0"/>
          </a:p>
          <a:p>
            <a:r>
              <a:rPr lang="en-US" dirty="0"/>
              <a:t> Experimental Setup</a:t>
            </a:r>
          </a:p>
          <a:p>
            <a:pPr lvl="1"/>
            <a:r>
              <a:rPr lang="en-US" dirty="0"/>
              <a:t> Clearly state dataset (cite the source)</a:t>
            </a:r>
          </a:p>
          <a:p>
            <a:pPr lvl="1"/>
            <a:r>
              <a:rPr lang="en-US" dirty="0"/>
              <a:t> Train/test split or evaluation protocol</a:t>
            </a:r>
          </a:p>
          <a:p>
            <a:pPr lvl="1"/>
            <a:r>
              <a:rPr lang="en-US" dirty="0"/>
              <a:t> Baselines used for experimental study</a:t>
            </a:r>
          </a:p>
          <a:p>
            <a:pPr lvl="1"/>
            <a:r>
              <a:rPr lang="en-US" dirty="0"/>
              <a:t> Metrics used for evaluation (AUROC, Acc, F1, </a:t>
            </a:r>
            <a:r>
              <a:rPr lang="en-US" dirty="0" err="1"/>
              <a:t>mAP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 Hardware used (GPU version/CPU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 Any preprocessing used</a:t>
            </a:r>
          </a:p>
          <a:p>
            <a:pPr lvl="1"/>
            <a:r>
              <a:rPr lang="en-US" dirty="0"/>
              <a:t> How did you choose hyperparameters</a:t>
            </a:r>
          </a:p>
          <a:p>
            <a:pPr lvl="1"/>
            <a:endParaRPr lang="en-US" dirty="0"/>
          </a:p>
          <a:p>
            <a:r>
              <a:rPr lang="en-US" dirty="0"/>
              <a:t> Guidelines:</a:t>
            </a:r>
          </a:p>
          <a:p>
            <a:r>
              <a:rPr lang="en-US" dirty="0"/>
              <a:t>	 Convey these using well-structured tables or concise bullet points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Added benefit of synth recipes: GNN learns the impact of physical optimization on timing paths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4AC2-0744-D1AD-8A2C-2FA1744B3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94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7560-0481-67AB-EC11-6EF32CE8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F762F-B874-0FD9-DE63-CE3C9A4A3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863459B-80CD-11C6-CB76-B3A436FB7B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Cory, Pablo, and DeAndre</a:t>
                </a:r>
              </a:p>
              <a:p>
                <a:endParaRPr lang="en-US" dirty="0"/>
              </a:p>
              <a:p>
                <a:r>
                  <a:rPr lang="en-US" dirty="0"/>
                  <a:t>(Presented by Dre)</a:t>
                </a:r>
              </a:p>
              <a:p>
                <a:endParaRPr lang="en-US" dirty="0"/>
              </a:p>
              <a:p>
                <a:r>
                  <a:rPr lang="en-US" dirty="0"/>
                  <a:t>1 slide, 4 points</a:t>
                </a:r>
              </a:p>
              <a:p>
                <a:endParaRPr lang="en-US" dirty="0"/>
              </a:p>
              <a:p>
                <a:r>
                  <a:rPr lang="en-US" dirty="0"/>
                  <a:t>1 plot: comparison of different networks</a:t>
                </a:r>
              </a:p>
              <a:p>
                <a:r>
                  <a:rPr lang="en-US" dirty="0"/>
                  <a:t>1 plot: impact of different hyperparameters</a:t>
                </a:r>
              </a:p>
              <a:p>
                <a:endParaRPr lang="en-US" dirty="0"/>
              </a:p>
              <a:p>
                <a:r>
                  <a:rPr lang="en-US" dirty="0"/>
                  <a:t> Results</a:t>
                </a:r>
              </a:p>
              <a:p>
                <a:pPr lvl="1"/>
                <a:r>
                  <a:rPr lang="en-US" dirty="0"/>
                  <a:t> 1-2 quantitative result table/plot</a:t>
                </a:r>
              </a:p>
              <a:p>
                <a:pPr lvl="1"/>
                <a:r>
                  <a:rPr lang="en-US" dirty="0"/>
                  <a:t> Comparison with baseline</a:t>
                </a:r>
              </a:p>
              <a:p>
                <a:pPr lvl="1"/>
                <a:r>
                  <a:rPr lang="en-US" dirty="0"/>
                  <a:t> 1-2 sentences explaining the key takeaway</a:t>
                </a:r>
              </a:p>
              <a:p>
                <a:r>
                  <a:rPr lang="en-US" dirty="0"/>
                  <a:t> Guidelines:</a:t>
                </a:r>
              </a:p>
              <a:p>
                <a:pPr lvl="1"/>
                <a:r>
                  <a:rPr lang="en-US" dirty="0"/>
                  <a:t> Highlight the important numbers/metric from your approach</a:t>
                </a:r>
              </a:p>
              <a:p>
                <a:pPr lvl="1"/>
                <a:r>
                  <a:rPr lang="en-US" dirty="0"/>
                  <a:t> Do not overcrowd the slide with so many results</a:t>
                </a:r>
              </a:p>
              <a:p>
                <a:pPr lvl="1"/>
                <a:r>
                  <a:rPr lang="en-US" dirty="0"/>
                  <a:t> Show one or two strong result, not ten weak ones</a:t>
                </a:r>
              </a:p>
              <a:p>
                <a:pPr lvl="1"/>
                <a:r>
                  <a:rPr lang="en-US" dirty="0"/>
                  <a:t> If the results are still incomplete, show</a:t>
                </a:r>
              </a:p>
              <a:p>
                <a:pPr lvl="2"/>
                <a:r>
                  <a:rPr lang="en-US" dirty="0"/>
                  <a:t> Preliminary results</a:t>
                </a:r>
              </a:p>
              <a:p>
                <a:pPr lvl="2"/>
                <a:r>
                  <a:rPr lang="en-US" dirty="0"/>
                  <a:t> Ablation in progress</a:t>
                </a:r>
              </a:p>
              <a:p>
                <a:pPr lvl="2"/>
                <a:r>
                  <a:rPr lang="en-US" dirty="0"/>
                  <a:t> Failure cases (showing you know/have clearly identified the issue)</a:t>
                </a:r>
              </a:p>
              <a:p>
                <a:pPr lvl="2"/>
                <a:endParaRPr lang="en-US" dirty="0"/>
              </a:p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Graph Attention Network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Tends to struggle with larger designs (# of nodes, edges)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Particularly struggles on TNS (involves many node interactions)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scores for circuit benchmarks are in line with [3]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Pooling ablation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Mean pooling</a:t>
                </a:r>
                <a:r>
                  <a:rPr lang="en-US" sz="1600" dirty="0"/>
                  <a:t>: averages aways high importance paths, weak convergence on WNS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Max pooling</a:t>
                </a:r>
                <a:r>
                  <a:rPr lang="en-US" sz="1600" dirty="0"/>
                  <a:t>: overfits immediately, test loss diverges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Sum pooling</a:t>
                </a:r>
                <a:r>
                  <a:rPr lang="en-US" sz="1600" dirty="0"/>
                  <a:t>: causes dominated by large graphs, produces extremely negative R^2 that fails to converge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Combination of mean + max pooling + graph dimensionality greatly improved test accuracy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863459B-80CD-11C6-CB76-B3A436FB7B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Cory, Pablo, and DeAndre</a:t>
                </a:r>
              </a:p>
              <a:p>
                <a:endParaRPr lang="en-US" dirty="0"/>
              </a:p>
              <a:p>
                <a:r>
                  <a:rPr lang="en-US" dirty="0"/>
                  <a:t>(Presented by Dre)</a:t>
                </a:r>
              </a:p>
              <a:p>
                <a:endParaRPr lang="en-US" dirty="0"/>
              </a:p>
              <a:p>
                <a:r>
                  <a:rPr lang="en-US" dirty="0"/>
                  <a:t>1 slide, 4 points</a:t>
                </a:r>
              </a:p>
              <a:p>
                <a:endParaRPr lang="en-US" dirty="0"/>
              </a:p>
              <a:p>
                <a:r>
                  <a:rPr lang="en-US" dirty="0"/>
                  <a:t>1 plot: comparison of different networks</a:t>
                </a:r>
              </a:p>
              <a:p>
                <a:r>
                  <a:rPr lang="en-US" dirty="0"/>
                  <a:t>1 plot: impact of different hyperparameters</a:t>
                </a:r>
              </a:p>
              <a:p>
                <a:endParaRPr lang="en-US" dirty="0"/>
              </a:p>
              <a:p>
                <a:r>
                  <a:rPr lang="en-US" dirty="0"/>
                  <a:t> Results</a:t>
                </a:r>
              </a:p>
              <a:p>
                <a:pPr lvl="1"/>
                <a:r>
                  <a:rPr lang="en-US" dirty="0"/>
                  <a:t> 1-2 quantitative result table/plot</a:t>
                </a:r>
              </a:p>
              <a:p>
                <a:pPr lvl="1"/>
                <a:r>
                  <a:rPr lang="en-US" dirty="0"/>
                  <a:t> Comparison with baseline</a:t>
                </a:r>
              </a:p>
              <a:p>
                <a:pPr lvl="1"/>
                <a:r>
                  <a:rPr lang="en-US" dirty="0"/>
                  <a:t> 1-2 sentences explaining the key takeaway</a:t>
                </a:r>
              </a:p>
              <a:p>
                <a:r>
                  <a:rPr lang="en-US" dirty="0"/>
                  <a:t> Guidelines:</a:t>
                </a:r>
              </a:p>
              <a:p>
                <a:pPr lvl="1"/>
                <a:r>
                  <a:rPr lang="en-US" dirty="0"/>
                  <a:t> Highlight the important numbers/metric from your approach</a:t>
                </a:r>
              </a:p>
              <a:p>
                <a:pPr lvl="1"/>
                <a:r>
                  <a:rPr lang="en-US" dirty="0"/>
                  <a:t> Do not overcrowd the slide with so many results</a:t>
                </a:r>
              </a:p>
              <a:p>
                <a:pPr lvl="1"/>
                <a:r>
                  <a:rPr lang="en-US" dirty="0"/>
                  <a:t> Show one or two strong result, not ten weak ones</a:t>
                </a:r>
              </a:p>
              <a:p>
                <a:pPr lvl="1"/>
                <a:r>
                  <a:rPr lang="en-US" dirty="0"/>
                  <a:t> If the results are still incomplete, show</a:t>
                </a:r>
              </a:p>
              <a:p>
                <a:pPr lvl="2"/>
                <a:r>
                  <a:rPr lang="en-US" dirty="0"/>
                  <a:t> Preliminary results</a:t>
                </a:r>
              </a:p>
              <a:p>
                <a:pPr lvl="2"/>
                <a:r>
                  <a:rPr lang="en-US" dirty="0"/>
                  <a:t> Ablation in progress</a:t>
                </a:r>
              </a:p>
              <a:p>
                <a:pPr lvl="2"/>
                <a:r>
                  <a:rPr lang="en-US" dirty="0"/>
                  <a:t> Failure cases (showing you know/have clearly identified the issue)</a:t>
                </a:r>
              </a:p>
              <a:p>
                <a:pPr lvl="2"/>
                <a:endParaRPr lang="en-US" dirty="0"/>
              </a:p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Graph Attention Network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Tends to struggle with larger designs (# of nodes, edges)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Particularly struggles on TNS (involves many node interactions)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i="0" dirty="0">
                    <a:latin typeface="Cambria Math" panose="02040503050406030204" pitchFamily="18" charset="0"/>
                  </a:rPr>
                  <a:t>𝑅^2</a:t>
                </a:r>
                <a:r>
                  <a:rPr lang="en-US" sz="1600" dirty="0"/>
                  <a:t> scores for circuit benchmarks are in line with [3]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Pooling ablation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Mean pooling</a:t>
                </a:r>
                <a:r>
                  <a:rPr lang="en-US" sz="1600" dirty="0"/>
                  <a:t>: averages aways high importance paths, weak convergence on WNS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Max pooling</a:t>
                </a:r>
                <a:r>
                  <a:rPr lang="en-US" sz="1600" dirty="0"/>
                  <a:t>: overfits immediately, test loss diverges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Sum pooling</a:t>
                </a:r>
                <a:r>
                  <a:rPr lang="en-US" sz="1600" dirty="0"/>
                  <a:t>: causes dominated by large graphs, produces extremely negative R^2 that fails to converge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Combination of mean + max pooling + graph dimensionality greatly improved test accuracy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84258-65DC-1BC1-3CA8-618019385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24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939E3-8C11-CE0E-3862-034F17F5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DAF71-3505-7F5D-F67B-1ACD9EC32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70808-9A56-D17F-D117-8E4A265C4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Cory, Pablo, and DeAndre</a:t>
            </a:r>
          </a:p>
          <a:p>
            <a:endParaRPr lang="en-US"/>
          </a:p>
          <a:p>
            <a:r>
              <a:rPr lang="en-US"/>
              <a:t>1 slide, 4 points</a:t>
            </a:r>
          </a:p>
          <a:p>
            <a:endParaRPr lang="en-US"/>
          </a:p>
          <a:p>
            <a:r>
              <a:rPr lang="en-US"/>
              <a:t>1 plot: comparison of different networks</a:t>
            </a:r>
          </a:p>
          <a:p>
            <a:r>
              <a:rPr lang="en-US"/>
              <a:t>1 plot: impact of different hyperparameters</a:t>
            </a:r>
          </a:p>
          <a:p>
            <a:r>
              <a:rPr lang="en-US"/>
              <a:t>1 table: speedup over full synthesis flow</a:t>
            </a:r>
          </a:p>
          <a:p>
            <a:endParaRPr lang="en-US"/>
          </a:p>
          <a:p>
            <a:r>
              <a:rPr lang="en-US"/>
              <a:t> Results</a:t>
            </a:r>
          </a:p>
          <a:p>
            <a:pPr lvl="1"/>
            <a:r>
              <a:rPr lang="en-US"/>
              <a:t> 1-2 quantitative result table/plot</a:t>
            </a:r>
          </a:p>
          <a:p>
            <a:pPr lvl="1"/>
            <a:r>
              <a:rPr lang="en-US"/>
              <a:t> Comparison with baseline</a:t>
            </a:r>
          </a:p>
          <a:p>
            <a:pPr lvl="1"/>
            <a:r>
              <a:rPr lang="en-US"/>
              <a:t> 1-2 sentences explaining the key takeaway</a:t>
            </a:r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Highlight the important numbers/metric from your approach</a:t>
            </a:r>
          </a:p>
          <a:p>
            <a:pPr lvl="1"/>
            <a:r>
              <a:rPr lang="en-US"/>
              <a:t> Do not overcrowd the slide with so many results</a:t>
            </a:r>
          </a:p>
          <a:p>
            <a:pPr lvl="1"/>
            <a:r>
              <a:rPr lang="en-US"/>
              <a:t> Show one or two strong result, not ten weak ones</a:t>
            </a:r>
          </a:p>
          <a:p>
            <a:pPr lvl="1"/>
            <a:r>
              <a:rPr lang="en-US"/>
              <a:t> If the results are still incomplete, show</a:t>
            </a:r>
          </a:p>
          <a:p>
            <a:pPr lvl="2"/>
            <a:r>
              <a:rPr lang="en-US"/>
              <a:t> Preliminary results</a:t>
            </a:r>
          </a:p>
          <a:p>
            <a:pPr lvl="2"/>
            <a:r>
              <a:rPr lang="en-US"/>
              <a:t> Ablation in progress</a:t>
            </a:r>
          </a:p>
          <a:p>
            <a:pPr lvl="2"/>
            <a:r>
              <a:rPr lang="en-US"/>
              <a:t> Failure cases (showing you know/have clearly identified the issue)</a:t>
            </a:r>
          </a:p>
          <a:p>
            <a:pPr lvl="2"/>
            <a:endParaRPr lang="en-US"/>
          </a:p>
          <a:p>
            <a:pPr lvl="2"/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F30F0-06A5-BACF-D954-71B16AAD5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4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D08FF-3F49-4967-2DEA-72E90A14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85B90-3EC9-EAED-9FBF-323BCA00E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D00A7-7456-7135-AE90-B53F0F0EB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Everyone</a:t>
            </a:r>
          </a:p>
          <a:p>
            <a:endParaRPr lang="en-US"/>
          </a:p>
          <a:p>
            <a:r>
              <a:rPr lang="en-US"/>
              <a:t>Presented by Cory</a:t>
            </a:r>
          </a:p>
          <a:p>
            <a:endParaRPr lang="en-US"/>
          </a:p>
          <a:p>
            <a:r>
              <a:rPr lang="en-US"/>
              <a:t>1 slide, 2 points</a:t>
            </a:r>
          </a:p>
          <a:p>
            <a:endParaRPr lang="en-US"/>
          </a:p>
          <a:p>
            <a:r>
              <a:rPr lang="en-US"/>
              <a:t> Any challenges remaining</a:t>
            </a:r>
          </a:p>
          <a:p>
            <a:pPr lvl="1"/>
            <a:r>
              <a:rPr lang="en-US"/>
              <a:t> List of pending experiments</a:t>
            </a:r>
          </a:p>
          <a:p>
            <a:pPr lvl="1"/>
            <a:r>
              <a:rPr lang="en-US"/>
              <a:t> What are the limitations of your proposed approach?</a:t>
            </a:r>
          </a:p>
          <a:p>
            <a:pPr lvl="1"/>
            <a:r>
              <a:rPr lang="en-US"/>
              <a:t> What is your future idea if you get more time to address this limitation</a:t>
            </a:r>
          </a:p>
          <a:p>
            <a:r>
              <a:rPr lang="en-US"/>
              <a:t> Guidelines:</a:t>
            </a:r>
          </a:p>
          <a:p>
            <a:pPr lvl="1"/>
            <a:r>
              <a:rPr lang="en-US"/>
              <a:t> Make it a thoughtful slide showing clear plan of finalizing the project as well</a:t>
            </a:r>
          </a:p>
          <a:p>
            <a:pPr lvl="1"/>
            <a:r>
              <a:rPr lang="en-US"/>
              <a:t>as clear understanding of limitations/methods of further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D472D-241F-958A-0647-572079C19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10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AE1A7-4829-5DCE-DE6B-521714623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9E0C1-9008-0764-4E63-AEDD198B8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6BF7E-DD0F-C401-DB1B-82A536C01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</a:t>
            </a:r>
          </a:p>
          <a:p>
            <a:endParaRPr lang="en-US" dirty="0"/>
          </a:p>
          <a:p>
            <a:r>
              <a:rPr lang="en-US" dirty="0"/>
              <a:t>Demo, 3 points</a:t>
            </a:r>
          </a:p>
          <a:p>
            <a:endParaRPr lang="en-US" dirty="0"/>
          </a:p>
          <a:p>
            <a:r>
              <a:rPr lang="en-US" dirty="0"/>
              <a:t> Option 1: Use </a:t>
            </a:r>
            <a:r>
              <a:rPr lang="en-US" dirty="0" err="1"/>
              <a:t>Googlecolab</a:t>
            </a:r>
            <a:r>
              <a:rPr lang="en-US" dirty="0"/>
              <a:t>/Newton</a:t>
            </a:r>
          </a:p>
          <a:p>
            <a:r>
              <a:rPr lang="en-US" dirty="0"/>
              <a:t> Introduce what you are going to demonstrate</a:t>
            </a:r>
          </a:p>
          <a:p>
            <a:r>
              <a:rPr lang="en-US" dirty="0"/>
              <a:t> 2-3 Examples. It may be one of these</a:t>
            </a:r>
          </a:p>
          <a:p>
            <a:pPr lvl="1"/>
            <a:r>
              <a:rPr lang="en-US" dirty="0"/>
              <a:t> Image input and predicted output</a:t>
            </a:r>
          </a:p>
          <a:p>
            <a:pPr lvl="1"/>
            <a:r>
              <a:rPr lang="en-US" dirty="0"/>
              <a:t> Generated sample (if using generative models)</a:t>
            </a:r>
          </a:p>
          <a:p>
            <a:pPr lvl="1"/>
            <a:r>
              <a:rPr lang="en-US" dirty="0"/>
              <a:t> Domain adaptation result</a:t>
            </a:r>
          </a:p>
          <a:p>
            <a:pPr lvl="1"/>
            <a:r>
              <a:rPr lang="en-US" dirty="0"/>
              <a:t> Anomaly detection result (showing the model detects anomaly and non-anomaly)</a:t>
            </a:r>
          </a:p>
          <a:p>
            <a:pPr lvl="1"/>
            <a:r>
              <a:rPr lang="en-US" dirty="0"/>
              <a:t> Any other visualization that shows the models predicts qualitatively</a:t>
            </a:r>
          </a:p>
          <a:p>
            <a:pPr lvl="1"/>
            <a:r>
              <a:rPr lang="en-US" dirty="0"/>
              <a:t> You can be more creative showing the baseline model fails whereas your approach wins</a:t>
            </a:r>
          </a:p>
          <a:p>
            <a:pPr lvl="1"/>
            <a:endParaRPr lang="en-US" dirty="0"/>
          </a:p>
          <a:p>
            <a:r>
              <a:rPr lang="en-US" dirty="0"/>
              <a:t> Guidelines:</a:t>
            </a:r>
          </a:p>
          <a:p>
            <a:pPr lvl="1"/>
            <a:r>
              <a:rPr lang="en-US" dirty="0"/>
              <a:t> Use only 2-3 minutes for demo</a:t>
            </a:r>
          </a:p>
          <a:p>
            <a:pPr lvl="1"/>
            <a:r>
              <a:rPr lang="en-US" dirty="0"/>
              <a:t> Do not plan for lengthy training during the class. Keep the trained model ready for the demo</a:t>
            </a:r>
          </a:p>
          <a:p>
            <a:pPr lvl="1"/>
            <a:r>
              <a:rPr lang="en-US" dirty="0"/>
              <a:t> Have all files (input image, input document </a:t>
            </a:r>
            <a:r>
              <a:rPr lang="en-US" dirty="0" err="1"/>
              <a:t>etc</a:t>
            </a:r>
            <a:r>
              <a:rPr lang="en-US" dirty="0"/>
              <a:t>), </a:t>
            </a:r>
            <a:r>
              <a:rPr lang="en-US" dirty="0" err="1"/>
              <a:t>colab</a:t>
            </a:r>
            <a:r>
              <a:rPr lang="en-US" dirty="0"/>
              <a:t> notebooks, and checkpoints open and ready before class</a:t>
            </a:r>
          </a:p>
          <a:p>
            <a:pPr lvl="1"/>
            <a:r>
              <a:rPr lang="en-US" dirty="0"/>
              <a:t> Show input, the model inference running (some print messages), output/result</a:t>
            </a:r>
          </a:p>
          <a:p>
            <a:pPr lvl="1"/>
            <a:r>
              <a:rPr lang="en-US" dirty="0"/>
              <a:t> You can keep backup (pre-recorded) video of this demo, if there is any technical challenges</a:t>
            </a:r>
          </a:p>
          <a:p>
            <a:endParaRPr lang="en-US" dirty="0"/>
          </a:p>
          <a:p>
            <a:r>
              <a:rPr lang="en-US" dirty="0"/>
              <a:t> Option 2 (with Bonus points 3): </a:t>
            </a:r>
            <a:r>
              <a:rPr lang="en-US" dirty="0" err="1"/>
              <a:t>Gradio</a:t>
            </a:r>
            <a:r>
              <a:rPr lang="en-US" dirty="0"/>
              <a:t> on Hugging Face Spaces</a:t>
            </a:r>
          </a:p>
          <a:p>
            <a:pPr lvl="1"/>
            <a:r>
              <a:rPr lang="en-US" dirty="0"/>
              <a:t> You can use the following resources to learn how to show the demo in an</a:t>
            </a:r>
          </a:p>
          <a:p>
            <a:pPr lvl="1"/>
            <a:r>
              <a:rPr lang="en-US" dirty="0"/>
              <a:t>interactive UI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/spaces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www.marqo.ai</a:t>
            </a:r>
            <a:r>
              <a:rPr lang="en-US" dirty="0"/>
              <a:t>/blog/how-to-create-a-hugging-face-space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191A4-69C6-EC09-C400-7AA49B306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72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CD45-34F3-E492-DF64-065D5030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4E1D0-360E-F056-5474-6C81CAD97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90776-BA20-8EE4-9653-A00CEE32B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Other comments</a:t>
            </a:r>
          </a:p>
          <a:p>
            <a:endParaRPr lang="en-US"/>
          </a:p>
          <a:p>
            <a:r>
              <a:rPr lang="en-US"/>
              <a:t> It is ok to have 2-3 extra slides if the details spill over in some sections</a:t>
            </a:r>
          </a:p>
          <a:p>
            <a:r>
              <a:rPr lang="en-US"/>
              <a:t> But try to make it concise so that the presentation will be covered in 12 minutes</a:t>
            </a:r>
          </a:p>
          <a:p>
            <a:r>
              <a:rPr lang="en-US"/>
              <a:t> Team members may decide among themselves how to divide the presentation slides. Each team member is expected to present part of the presentation</a:t>
            </a:r>
          </a:p>
          <a:p>
            <a:r>
              <a:rPr lang="en-US"/>
              <a:t> Evaluation will be based on both the content of each slide (as given in the guidelines) and the clarity and effectiveness of the presentation.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7C8B0-3624-4B34-8805-8AF7B7C7D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95B705-1AD1-7146-931C-55F9340C4C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97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Logo" descr="University of Central Florida Logo">
            <a:extLst>
              <a:ext uri="{FF2B5EF4-FFF2-40B4-BE49-F238E27FC236}">
                <a16:creationId xmlns:a16="http://schemas.microsoft.com/office/drawing/2014/main" id="{E2F3FCD1-EFC7-BA41-AD3C-9BF16356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8C5892F5-1238-1146-84B0-B074DABAD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6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1CDCEDA1-8902-AC46-8647-28693E356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3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8A955FA0-EC9C-AC47-99DA-636725D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DA601791-9AA9-BC4F-A18D-88FAD862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2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insert a quote. </a:t>
            </a:r>
            <a:br>
              <a:rPr lang="en-US"/>
            </a:br>
            <a:r>
              <a:rPr lang="en-US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Large Quotation Mark">
            <a:extLst>
              <a:ext uri="{FF2B5EF4-FFF2-40B4-BE49-F238E27FC236}">
                <a16:creationId xmlns:a16="http://schemas.microsoft.com/office/drawing/2014/main" id="{3932BF08-418B-A342-8AF0-5060E8D2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72" t="19475" r="29641" b="47417"/>
          <a:stretch/>
        </p:blipFill>
        <p:spPr>
          <a:xfrm>
            <a:off x="5123361" y="846118"/>
            <a:ext cx="1854926" cy="1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insert a quote. </a:t>
            </a:r>
            <a:br>
              <a:rPr lang="en-US"/>
            </a:br>
            <a:r>
              <a:rPr lang="en-US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an attribution for the quote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5320746" y="1053012"/>
            <a:ext cx="1550505" cy="1311966"/>
          </a:xfrm>
          <a:prstGeom prst="rect">
            <a:avLst/>
          </a:prstGeom>
        </p:spPr>
      </p:pic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insert a quote. </a:t>
            </a:r>
            <a:br>
              <a:rPr lang="en-US"/>
            </a:br>
            <a:r>
              <a:rPr lang="en-US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insert a quote. </a:t>
            </a:r>
            <a:br>
              <a:rPr lang="en-US"/>
            </a:br>
            <a:r>
              <a:rPr lang="en-US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  <a:ln>
            <a:solidFill>
              <a:srgbClr val="FDFDFD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1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07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10744200" cy="395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77F6443-D010-1146-B8C0-176DC488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2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39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ith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12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14BEF4-EC1B-CB40-86CE-A76FBEE2C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AC45E14-D9B2-584A-A6F7-1FC19738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0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C78A78-2622-BF4B-9BB7-DC588F49E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99293980-C1E8-C540-B50F-159ADF52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7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509F21-ACAC-354A-91BB-8A131C92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93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DB87-5EC2-5F48-B829-449C8C25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7408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4B4C5-8D41-F944-AF43-623F969C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930" y="2155372"/>
            <a:ext cx="10744202" cy="39406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348041B-D0EC-BC4E-80D1-5599A5EC0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/>
              <a:t>CLICK TO EDIT SLIDE TITLE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B639CC6-D232-C843-946F-6B4AFAF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57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FA56D-5C99-0146-B295-D44F3B9AC1C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934994" y="723899"/>
            <a:ext cx="2533106" cy="5372101"/>
          </a:xfrm>
        </p:spPr>
        <p:txBody>
          <a:bodyPr vert="eaVert"/>
          <a:lstStyle/>
          <a:p>
            <a:r>
              <a:rPr lang="en-US"/>
              <a:t>CLICK TO EDIT SLIDE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C468-E09B-734B-8183-8092C335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7848600" cy="5372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6E31E3F0-9F53-8744-BCB7-19265F3E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11437" y="723900"/>
            <a:ext cx="3" cy="603575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4A9B4ED-93C8-714A-8B1D-43EF141E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89844F1C-2F28-1E4A-B4F0-CE9DDE546ECD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4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55" r:id="rId2"/>
    <p:sldLayoutId id="2147483856" r:id="rId3"/>
    <p:sldLayoutId id="2147483846" r:id="rId4"/>
    <p:sldLayoutId id="2147483848" r:id="rId5"/>
    <p:sldLayoutId id="2147483851" r:id="rId6"/>
    <p:sldLayoutId id="2147483852" r:id="rId7"/>
    <p:sldLayoutId id="2147483853" r:id="rId8"/>
    <p:sldLayoutId id="2147483854" r:id="rId9"/>
    <p:sldLayoutId id="2147483857" r:id="rId10"/>
    <p:sldLayoutId id="2147483858" r:id="rId11"/>
    <p:sldLayoutId id="214748385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3C2240D-AECF-A74C-B5C6-0F0D207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E16C111-6EB6-4241-A8F2-7E41B94809DE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02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60" r:id="rId7"/>
    <p:sldLayoutId id="2147483803" r:id="rId8"/>
    <p:sldLayoutId id="2147483804" r:id="rId9"/>
    <p:sldLayoutId id="214748380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32" userDrawn="1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pablojrl123/PPA-Estimation-Projec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676536.3676668" TargetMode="External"/><Relationship Id="rId2" Type="http://schemas.openxmlformats.org/officeDocument/2006/relationships/hyperlink" Target="https://opencores.com/" TargetMode="Externa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51B0E-AAAE-51C0-F94E-22406ACC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E6B8-02F4-4629-E445-DBDE1DBBF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err="1"/>
              <a:t>QoRNet</a:t>
            </a:r>
            <a:r>
              <a:rPr lang="en-US"/>
              <a:t>: Timing Prediction for VLSI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F0CA3-DCFF-8547-5017-10D611F9FC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Cory Brynds, DeAndre Hendrix, Youssef Samwel, and Pablo Rodriguez</a:t>
            </a:r>
          </a:p>
          <a:p>
            <a:pPr>
              <a:lnSpc>
                <a:spcPct val="100000"/>
              </a:lnSpc>
            </a:pPr>
            <a:r>
              <a:rPr lang="en-US" i="1"/>
              <a:t>Electrical and Computer Engineering Department</a:t>
            </a:r>
          </a:p>
          <a:p>
            <a:pPr>
              <a:lnSpc>
                <a:spcPct val="100000"/>
              </a:lnSpc>
            </a:pPr>
            <a:r>
              <a:rPr lang="en-US" b="1"/>
              <a:t>Track II, Sub-Track I</a:t>
            </a:r>
          </a:p>
        </p:txBody>
      </p:sp>
    </p:spTree>
    <p:extLst>
      <p:ext uri="{BB962C8B-B14F-4D97-AF65-F5344CB8AC3E}">
        <p14:creationId xmlns:p14="http://schemas.microsoft.com/office/powerpoint/2010/main" val="335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64DC-7D95-FFF6-8F5C-DF8E5401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7" y="723900"/>
            <a:ext cx="5372103" cy="1104300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430C0-D7E5-2D57-89D7-7502AF7A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" y="2137720"/>
            <a:ext cx="4981574" cy="39582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Context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RTL designers must balance a complex tradeoff between </a:t>
            </a:r>
            <a:r>
              <a:rPr lang="en-US" b="1" dirty="0"/>
              <a:t>power</a:t>
            </a:r>
            <a:r>
              <a:rPr lang="en-US" dirty="0"/>
              <a:t>, </a:t>
            </a:r>
            <a:r>
              <a:rPr lang="en-US" b="1" dirty="0"/>
              <a:t>performance</a:t>
            </a:r>
            <a:r>
              <a:rPr lang="en-US" dirty="0"/>
              <a:t>, and </a:t>
            </a:r>
            <a:r>
              <a:rPr lang="en-US" b="1" dirty="0"/>
              <a:t>area</a:t>
            </a:r>
            <a:r>
              <a:rPr lang="en-US" dirty="0"/>
              <a:t> when designing hardware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/>
                <a:cs typeface="Arial"/>
              </a:rPr>
              <a:t>Time-consuming synthesis + placement-and-routing iterations needed for exact </a:t>
            </a:r>
            <a:r>
              <a:rPr lang="en-US" dirty="0" err="1">
                <a:latin typeface="Arial"/>
                <a:cs typeface="Arial"/>
              </a:rPr>
              <a:t>QoR</a:t>
            </a:r>
            <a:r>
              <a:rPr lang="en-US" dirty="0">
                <a:latin typeface="Arial"/>
                <a:cs typeface="Arial"/>
              </a:rPr>
              <a:t> (slow development iterations)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Arial"/>
                <a:cs typeface="Arial"/>
              </a:rPr>
              <a:t>Problem</a:t>
            </a:r>
            <a:r>
              <a:rPr lang="en-US" dirty="0">
                <a:latin typeface="Arial"/>
                <a:cs typeface="Arial"/>
              </a:rPr>
              <a:t>: Can we utilize deep learning to optimize the RTL design iteration flow by </a:t>
            </a:r>
            <a:r>
              <a:rPr lang="en-US" b="1" dirty="0">
                <a:latin typeface="Arial"/>
                <a:cs typeface="Arial"/>
              </a:rPr>
              <a:t>quickly</a:t>
            </a:r>
            <a:r>
              <a:rPr lang="en-US" dirty="0">
                <a:latin typeface="Arial"/>
                <a:cs typeface="Arial"/>
              </a:rPr>
              <a:t> and </a:t>
            </a:r>
            <a:r>
              <a:rPr lang="en-US" b="1" dirty="0">
                <a:latin typeface="Arial"/>
                <a:cs typeface="Arial"/>
              </a:rPr>
              <a:t>accurately</a:t>
            </a:r>
            <a:r>
              <a:rPr lang="en-US" dirty="0">
                <a:latin typeface="Arial"/>
                <a:cs typeface="Arial"/>
              </a:rPr>
              <a:t> predicting post-synthesis timing metrics (</a:t>
            </a:r>
            <a:r>
              <a:rPr lang="en-US" b="1" dirty="0">
                <a:latin typeface="Arial"/>
                <a:cs typeface="Arial"/>
              </a:rPr>
              <a:t>WNS</a:t>
            </a:r>
            <a:r>
              <a:rPr lang="en-US" dirty="0">
                <a:latin typeface="Arial"/>
                <a:cs typeface="Arial"/>
              </a:rPr>
              <a:t> and </a:t>
            </a:r>
            <a:r>
              <a:rPr lang="en-US" b="1" dirty="0">
                <a:latin typeface="Arial"/>
                <a:cs typeface="Arial"/>
              </a:rPr>
              <a:t>TNS</a:t>
            </a:r>
            <a:r>
              <a:rPr lang="en-US" dirty="0">
                <a:latin typeface="Arial"/>
                <a:cs typeface="Arial"/>
              </a:rPr>
              <a:t>) from pre-synthesis RTL?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AEC737-9D8A-3729-9255-A6D2BE0FEF84}"/>
              </a:ext>
            </a:extLst>
          </p:cNvPr>
          <p:cNvGrpSpPr/>
          <p:nvPr/>
        </p:nvGrpSpPr>
        <p:grpSpPr>
          <a:xfrm>
            <a:off x="6302757" y="819150"/>
            <a:ext cx="4950702" cy="3740093"/>
            <a:chOff x="6559932" y="2521863"/>
            <a:chExt cx="4950702" cy="3740093"/>
          </a:xfrm>
        </p:grpSpPr>
        <p:pic>
          <p:nvPicPr>
            <p:cNvPr id="12" name="Picture 11" descr="A graph of a number of different colored bars&#10;&#10;AI-generated content may be incorrect.">
              <a:extLst>
                <a:ext uri="{FF2B5EF4-FFF2-40B4-BE49-F238E27FC236}">
                  <a16:creationId xmlns:a16="http://schemas.microsoft.com/office/drawing/2014/main" id="{C20C9B1C-BE2B-5C02-635B-8FB7321B0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9932" y="2952750"/>
              <a:ext cx="4908167" cy="330920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3D0BCE-5FCD-3608-A856-65AD9D7C382D}"/>
                </a:ext>
              </a:extLst>
            </p:cNvPr>
            <p:cNvSpPr txBox="1"/>
            <p:nvPr/>
          </p:nvSpPr>
          <p:spPr>
            <a:xfrm>
              <a:off x="6950457" y="2521863"/>
              <a:ext cx="4560177" cy="430887"/>
            </a:xfrm>
            <a:prstGeom prst="rect">
              <a:avLst/>
            </a:prstGeom>
          </p:spPr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1400" dirty="0"/>
                <a:t>Runtime comparison of fast synthesis + implementation flow and deep learning-based </a:t>
              </a:r>
              <a:r>
                <a:rPr lang="en-US" sz="1400" dirty="0" err="1"/>
                <a:t>QoR</a:t>
              </a:r>
              <a:r>
                <a:rPr lang="en-US" sz="1400" dirty="0"/>
                <a:t> prediction.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99CDEA7-6250-D950-0297-965FA2EDC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8532" y="952050"/>
            <a:ext cx="3248823" cy="22095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0EC08C9-F7F9-2DCC-FD31-2074FA932E7F}"/>
              </a:ext>
            </a:extLst>
          </p:cNvPr>
          <p:cNvSpPr txBox="1">
            <a:spLocks/>
          </p:cNvSpPr>
          <p:nvPr/>
        </p:nvSpPr>
        <p:spPr>
          <a:xfrm>
            <a:off x="6476751" y="4823056"/>
            <a:ext cx="4981574" cy="15698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Worst Negative Slack (WNS) – </a:t>
            </a:r>
            <a:r>
              <a:rPr lang="en-US" dirty="0"/>
              <a:t>timing violation of longest path through design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Arial"/>
                <a:cs typeface="Arial"/>
              </a:rPr>
              <a:t>Total Negative Slack (TNS) – </a:t>
            </a:r>
            <a:r>
              <a:rPr lang="en-US" dirty="0">
                <a:latin typeface="Arial"/>
                <a:cs typeface="Arial"/>
              </a:rPr>
              <a:t>total sum of all paths with negative slack</a:t>
            </a:r>
          </a:p>
        </p:txBody>
      </p:sp>
    </p:spTree>
    <p:extLst>
      <p:ext uri="{BB962C8B-B14F-4D97-AF65-F5344CB8AC3E}">
        <p14:creationId xmlns:p14="http://schemas.microsoft.com/office/powerpoint/2010/main" val="29089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2855-8ED5-3907-8B8F-2B8C0DAD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6B5E-F8E5-5B2F-ACB2-E2D66282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Related Work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46C7DF-0F03-9C06-14BE-2030FDC49616}"/>
              </a:ext>
            </a:extLst>
          </p:cNvPr>
          <p:cNvSpPr/>
          <p:nvPr/>
        </p:nvSpPr>
        <p:spPr>
          <a:xfrm>
            <a:off x="584616" y="2011368"/>
            <a:ext cx="11092722" cy="791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716DD3-CD54-C799-91FC-F0822214D6B7}"/>
              </a:ext>
            </a:extLst>
          </p:cNvPr>
          <p:cNvSpPr/>
          <p:nvPr/>
        </p:nvSpPr>
        <p:spPr>
          <a:xfrm>
            <a:off x="584616" y="4154960"/>
            <a:ext cx="11092722" cy="7917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62F8A9-0FAC-8601-314D-0BDA4C46D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497" y="2175820"/>
            <a:ext cx="11613005" cy="3958280"/>
          </a:xfrm>
        </p:spPr>
        <p:txBody>
          <a:bodyPr/>
          <a:lstStyle/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Chowdhury, Tan, Karri, and Garg, “</a:t>
            </a:r>
            <a:r>
              <a:rPr lang="en-US" err="1"/>
              <a:t>OpenABC</a:t>
            </a:r>
            <a:r>
              <a:rPr lang="en-US"/>
              <a:t>-D: A Large-Scale Dataset For Machine Learning Guided Integrated Circuit Synthesis”, </a:t>
            </a:r>
            <a:r>
              <a:rPr lang="en-US" err="1"/>
              <a:t>arXiv</a:t>
            </a:r>
            <a:r>
              <a:rPr lang="en-US"/>
              <a:t>, 2021.</a:t>
            </a:r>
          </a:p>
          <a:p>
            <a:pPr lvl="2">
              <a:lnSpc>
                <a:spcPct val="100000"/>
              </a:lnSpc>
            </a:pPr>
            <a:r>
              <a:rPr lang="en-US"/>
              <a:t>Dataset/benchmark for ML-guided logic synthesis with 870,000 AIGs from 1,500 synthesis runs</a:t>
            </a:r>
          </a:p>
          <a:p>
            <a:pPr lvl="2">
              <a:lnSpc>
                <a:spcPct val="100000"/>
              </a:lnSpc>
            </a:pPr>
            <a:r>
              <a:rPr lang="en-US"/>
              <a:t>Basic GNN model for </a:t>
            </a:r>
            <a:r>
              <a:rPr lang="en-US" b="1"/>
              <a:t>post-synthesis</a:t>
            </a:r>
            <a:r>
              <a:rPr lang="en-US"/>
              <a:t> </a:t>
            </a:r>
            <a:r>
              <a:rPr lang="en-US" err="1"/>
              <a:t>QoR</a:t>
            </a:r>
            <a:r>
              <a:rPr lang="en-US"/>
              <a:t> prediction (# of levels of logic, node count)</a:t>
            </a:r>
          </a:p>
          <a:p>
            <a:pPr lvl="2">
              <a:lnSpc>
                <a:spcPct val="100000"/>
              </a:lnSpc>
            </a:pPr>
            <a:r>
              <a:rPr lang="en-US"/>
              <a:t>Synthetically generate data from a smaller set of designs using different </a:t>
            </a:r>
            <a:r>
              <a:rPr lang="en-US" i="1"/>
              <a:t>synthesis recipes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C. Xu, C. </a:t>
            </a:r>
            <a:r>
              <a:rPr lang="en-US" err="1"/>
              <a:t>Kjellqvist</a:t>
            </a:r>
            <a:r>
              <a:rPr lang="en-US"/>
              <a:t>, L. Wills, “SNS's not a synthesizer: a deep-learning-based synthesis predictor,” ISCA, 2022.</a:t>
            </a:r>
          </a:p>
          <a:p>
            <a:pPr lvl="2">
              <a:lnSpc>
                <a:spcPct val="100000"/>
              </a:lnSpc>
            </a:pPr>
            <a:r>
              <a:rPr lang="en-US"/>
              <a:t>RTL-level synthesis predictor for predicting area, power, and timing from RTL-derived path samples</a:t>
            </a:r>
          </a:p>
          <a:p>
            <a:pPr lvl="2">
              <a:lnSpc>
                <a:spcPct val="100000"/>
              </a:lnSpc>
            </a:pPr>
            <a:r>
              <a:rPr lang="en-US"/>
              <a:t>Targets </a:t>
            </a:r>
            <a:r>
              <a:rPr lang="en-US" b="1"/>
              <a:t>post-synthesis</a:t>
            </a:r>
            <a:r>
              <a:rPr lang="en-US"/>
              <a:t> </a:t>
            </a:r>
            <a:r>
              <a:rPr lang="en-US" err="1"/>
              <a:t>QoR</a:t>
            </a:r>
            <a:r>
              <a:rPr lang="en-US"/>
              <a:t> prediction as a fast method of design space exploration</a:t>
            </a:r>
          </a:p>
          <a:p>
            <a:pPr lvl="2">
              <a:lnSpc>
                <a:spcPct val="100000"/>
              </a:lnSpc>
            </a:pPr>
            <a:r>
              <a:rPr lang="en-US"/>
              <a:t>Samples complete paths and synthetically generates data using a </a:t>
            </a:r>
            <a:r>
              <a:rPr lang="en-US" err="1"/>
              <a:t>SeqGAN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6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A956-E052-18F0-914C-563DFF13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85E4-97A9-B6EF-578A-79AE87DC3E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2249" y="-552450"/>
            <a:ext cx="10744200" cy="1104900"/>
          </a:xfrm>
        </p:spPr>
        <p:txBody>
          <a:bodyPr/>
          <a:lstStyle/>
          <a:p>
            <a:r>
              <a:rPr lang="en-US"/>
              <a:t>Related 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946EA0-CE43-AA1A-8443-EB7A20733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90183"/>
              </p:ext>
            </p:extLst>
          </p:nvPr>
        </p:nvGraphicFramePr>
        <p:xfrm>
          <a:off x="722026" y="3020933"/>
          <a:ext cx="10747947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1637423088"/>
                    </a:ext>
                  </a:extLst>
                </a:gridCol>
                <a:gridCol w="1319134">
                  <a:extLst>
                    <a:ext uri="{9D8B030D-6E8A-4147-A177-3AD203B41FA5}">
                      <a16:colId xmlns:a16="http://schemas.microsoft.com/office/drawing/2014/main" val="985981347"/>
                    </a:ext>
                  </a:extLst>
                </a:gridCol>
                <a:gridCol w="1751664">
                  <a:extLst>
                    <a:ext uri="{9D8B030D-6E8A-4147-A177-3AD203B41FA5}">
                      <a16:colId xmlns:a16="http://schemas.microsoft.com/office/drawing/2014/main" val="3830761010"/>
                    </a:ext>
                  </a:extLst>
                </a:gridCol>
                <a:gridCol w="1756035">
                  <a:extLst>
                    <a:ext uri="{9D8B030D-6E8A-4147-A177-3AD203B41FA5}">
                      <a16:colId xmlns:a16="http://schemas.microsoft.com/office/drawing/2014/main" val="1779679407"/>
                    </a:ext>
                  </a:extLst>
                </a:gridCol>
                <a:gridCol w="2083633">
                  <a:extLst>
                    <a:ext uri="{9D8B030D-6E8A-4147-A177-3AD203B41FA5}">
                      <a16:colId xmlns:a16="http://schemas.microsoft.com/office/drawing/2014/main" val="3464230820"/>
                    </a:ext>
                  </a:extLst>
                </a:gridCol>
                <a:gridCol w="2338465">
                  <a:extLst>
                    <a:ext uri="{9D8B030D-6E8A-4147-A177-3AD203B41FA5}">
                      <a16:colId xmlns:a16="http://schemas.microsoft.com/office/drawing/2014/main" val="2562903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Synthetic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626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err="1"/>
                        <a:t>OpenABC</a:t>
                      </a:r>
                      <a:r>
                        <a:rPr lang="en-US" sz="1600"/>
                        <a:t>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And-Inverter Graph (AIG)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Levels of logic, number of AIG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Via sweeping synthesis recipes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Large amount of training data, open-source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Synthesis-centric, not usable by an RTL designer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90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SNS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RTL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Post-synthesis timing, power,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Via </a:t>
                      </a:r>
                      <a:r>
                        <a:rPr lang="en-US" sz="1600" err="1"/>
                        <a:t>SeqGAN</a:t>
                      </a:r>
                      <a:r>
                        <a:rPr lang="en-US" sz="1600"/>
                        <a:t>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Fast QoR estimation for DSE, path-based method scalable to larger designs</a:t>
                      </a:r>
                    </a:p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 post-implementation prediction, path-based model can miss global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947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“How Good…”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RTL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Post-implementation timing,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Via sweeping synthesis + implementation recipes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Physical-aware, compares different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Dataset diversity (~50 unique designs), vague implementation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653094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EBDED-3426-77E5-260A-EFDE91A96434}"/>
              </a:ext>
            </a:extLst>
          </p:cNvPr>
          <p:cNvSpPr/>
          <p:nvPr/>
        </p:nvSpPr>
        <p:spPr>
          <a:xfrm>
            <a:off x="395365" y="929035"/>
            <a:ext cx="11092722" cy="794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882B3-A7C4-0BE4-BB26-469714297560}"/>
              </a:ext>
            </a:extLst>
          </p:cNvPr>
          <p:cNvSpPr txBox="1"/>
          <p:nvPr/>
        </p:nvSpPr>
        <p:spPr>
          <a:xfrm>
            <a:off x="0" y="1043732"/>
            <a:ext cx="1148434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Aft>
                <a:spcPts val="1000"/>
              </a:spcAft>
              <a:buAutoNum type="arabicPeriod" startAt="3"/>
            </a:pPr>
            <a:r>
              <a:rPr lang="en-US"/>
              <a:t>P. Sengupta, A. Tyagi, Y. Chen and J. Hu, "How Good Is Your Verilog RTL Code? A Quick Answer from Machine Learning," ICCAD</a:t>
            </a:r>
            <a:r>
              <a:rPr lang="en-US" i="1"/>
              <a:t>, </a:t>
            </a:r>
            <a:r>
              <a:rPr lang="en-US"/>
              <a:t>2022. </a:t>
            </a:r>
          </a:p>
          <a:p>
            <a:pPr marL="1257300" lvl="2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Survey of different deep-learning methods for </a:t>
            </a:r>
            <a:r>
              <a:rPr lang="en-US" b="1"/>
              <a:t>post-implementation timing </a:t>
            </a:r>
            <a:r>
              <a:rPr lang="en-US"/>
              <a:t>(TNS and WNS) and power estimation from RTL code</a:t>
            </a:r>
          </a:p>
          <a:p>
            <a:pPr marL="1257300" lvl="2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Synthetic data creation using synthesis and </a:t>
            </a:r>
            <a:r>
              <a:rPr lang="en-US" b="1"/>
              <a:t>implementation recipes </a:t>
            </a:r>
            <a:endParaRPr lang="en-US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55102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5B0D2-3BBE-A2FC-9DFB-4682178D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A9ADF-309C-87E8-B79A-12B32424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Technical Gap in Prior Work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BB74414-53C6-DB9A-14CD-6003110C5D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275986"/>
              </p:ext>
            </p:extLst>
          </p:nvPr>
        </p:nvGraphicFramePr>
        <p:xfrm>
          <a:off x="4562899" y="1439333"/>
          <a:ext cx="720601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1CEFA7-A109-0A9B-D2E4-242C8B466F93}"/>
              </a:ext>
            </a:extLst>
          </p:cNvPr>
          <p:cNvSpPr txBox="1"/>
          <p:nvPr/>
        </p:nvSpPr>
        <p:spPr>
          <a:xfrm>
            <a:off x="674426" y="5211001"/>
            <a:ext cx="3612107" cy="646331"/>
          </a:xfrm>
          <a:prstGeom prst="rect">
            <a:avLst/>
          </a:prstGeom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en-US" sz="1400"/>
              <a:t>Figure: Post-implementation area-delay spread of the same post-synthesis design under different post-synthesis recipes</a:t>
            </a:r>
          </a:p>
        </p:txBody>
      </p:sp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77113FA8-C1D4-D634-D0F6-A02FF3D2288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121"/>
          <a:stretch>
            <a:fillRect/>
          </a:stretch>
        </p:blipFill>
        <p:spPr>
          <a:xfrm>
            <a:off x="204717" y="2824834"/>
            <a:ext cx="3903258" cy="240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2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8123-F0D5-2F10-0046-F391CF9A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07FC-A26F-52EB-1FE8-5A3AFADD054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6323" y="204558"/>
            <a:ext cx="10744200" cy="1104900"/>
          </a:xfrm>
        </p:spPr>
        <p:txBody>
          <a:bodyPr/>
          <a:lstStyle/>
          <a:p>
            <a:r>
              <a:rPr lang="en-US" err="1"/>
              <a:t>QoRNet</a:t>
            </a:r>
            <a:r>
              <a:rPr lang="en-US"/>
              <a:t> Overview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0E1E266E-9151-B2F4-5579-0F3556324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005" y="361824"/>
            <a:ext cx="3806797" cy="6291618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2F2D678-EA7B-D2D6-8018-6F26DF5CDC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655215"/>
              </p:ext>
            </p:extLst>
          </p:nvPr>
        </p:nvGraphicFramePr>
        <p:xfrm>
          <a:off x="646323" y="1673524"/>
          <a:ext cx="6474324" cy="4244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6749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network&#10;&#10;AI-generated content may be incorrect.">
            <a:extLst>
              <a:ext uri="{FF2B5EF4-FFF2-40B4-BE49-F238E27FC236}">
                <a16:creationId xmlns:a16="http://schemas.microsoft.com/office/drawing/2014/main" id="{7A092D58-5F7B-5680-0697-65C6FCBA4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638" y="1533712"/>
            <a:ext cx="5573890" cy="4437945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BC2D9B43-B11F-DBA2-1B30-7588CC4A01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7682" y="1104900"/>
            <a:ext cx="5744816" cy="46482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>
                <a:latin typeface="Arial"/>
                <a:cs typeface="Arial"/>
              </a:rPr>
              <a:t>Two types of feature extraction methods given an AST:</a:t>
            </a:r>
          </a:p>
          <a:p>
            <a:pPr marL="800100" lvl="1" indent="-342900">
              <a:lnSpc>
                <a:spcPct val="100000"/>
              </a:lnSpc>
              <a:buAutoNum type="arabicPeriod"/>
            </a:pPr>
            <a:r>
              <a:rPr lang="en-US" b="1">
                <a:latin typeface="Arial"/>
                <a:cs typeface="Arial"/>
              </a:rPr>
              <a:t>Vector-based</a:t>
            </a:r>
            <a:r>
              <a:rPr lang="en-US">
                <a:latin typeface="Arial"/>
                <a:cs typeface="Arial"/>
              </a:rPr>
              <a:t>: global statistics (e.g., total I/O bits, logic, registers); simple but loses structure</a:t>
            </a:r>
            <a:endParaRPr lang="en-US"/>
          </a:p>
          <a:p>
            <a:pPr marL="800100" lvl="1" indent="-342900">
              <a:lnSpc>
                <a:spcPct val="100000"/>
              </a:lnSpc>
              <a:buAutoNum type="arabicPeriod"/>
            </a:pPr>
            <a:r>
              <a:rPr lang="en-US" b="1">
                <a:latin typeface="Arial"/>
                <a:cs typeface="Arial"/>
              </a:rPr>
              <a:t>Graph-based</a:t>
            </a:r>
            <a:r>
              <a:rPr lang="en-US">
                <a:latin typeface="Arial"/>
                <a:cs typeface="Arial"/>
              </a:rPr>
              <a:t>: nodes = cells with attributes (e.g. type, input/output bit widths, neighbor count); edges = signal connections capturing data/control flow and cell dependencies</a:t>
            </a:r>
            <a:endParaRPr lang="en-US"/>
          </a:p>
          <a:p>
            <a:pPr>
              <a:lnSpc>
                <a:spcPct val="100000"/>
              </a:lnSpc>
            </a:pP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C3F6C5-89B6-0B80-4D65-A711567A1AE3}"/>
              </a:ext>
            </a:extLst>
          </p:cNvPr>
          <p:cNvSpPr txBox="1">
            <a:spLocks/>
          </p:cNvSpPr>
          <p:nvPr/>
        </p:nvSpPr>
        <p:spPr>
          <a:xfrm>
            <a:off x="817682" y="168193"/>
            <a:ext cx="9982201" cy="7181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/>
              <a:t>Abstract Syntax Tree Parsing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4CD7E0B-6798-0495-4856-35B632F2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727367"/>
              </p:ext>
            </p:extLst>
          </p:nvPr>
        </p:nvGraphicFramePr>
        <p:xfrm>
          <a:off x="1648691" y="3633499"/>
          <a:ext cx="4302156" cy="255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078">
                  <a:extLst>
                    <a:ext uri="{9D8B030D-6E8A-4147-A177-3AD203B41FA5}">
                      <a16:colId xmlns:a16="http://schemas.microsoft.com/office/drawing/2014/main" val="4216909529"/>
                    </a:ext>
                  </a:extLst>
                </a:gridCol>
                <a:gridCol w="2151078">
                  <a:extLst>
                    <a:ext uri="{9D8B030D-6E8A-4147-A177-3AD203B41FA5}">
                      <a16:colId xmlns:a16="http://schemas.microsoft.com/office/drawing/2014/main" val="2949841399"/>
                    </a:ext>
                  </a:extLst>
                </a:gridCol>
              </a:tblGrid>
              <a:tr h="243699">
                <a:tc>
                  <a:txBody>
                    <a:bodyPr/>
                    <a:lstStyle/>
                    <a:p>
                      <a:r>
                        <a:rPr lang="en-US" sz="140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724336"/>
                  </a:ext>
                </a:extLst>
              </a:tr>
              <a:tr h="2436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total_input_bits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866668"/>
                  </a:ext>
                </a:extLst>
              </a:tr>
              <a:tr h="3343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total_adder_sub_bits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618952"/>
                  </a:ext>
                </a:extLst>
              </a:tr>
              <a:tr h="3343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total_logic_operator_bits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142854"/>
                  </a:ext>
                </a:extLst>
              </a:tr>
              <a:tr h="3343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total_multiplexer_bits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071034"/>
                  </a:ext>
                </a:extLst>
              </a:tr>
              <a:tr h="3343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total_multiplication_bits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03248"/>
                  </a:ext>
                </a:extLst>
              </a:tr>
              <a:tr h="2436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avg_wire_width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261183"/>
                  </a:ext>
                </a:extLst>
              </a:tr>
              <a:tr h="2436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avg_tree_depth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29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18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9549-469E-1EEB-B687-F1BC263D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E65B947-DF6D-00E8-97C1-83FE2FD42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50" y="1828200"/>
            <a:ext cx="9055100" cy="1844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A794DA-ACBB-97DC-5D80-0243D4F0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Arial Black"/>
              </a:rPr>
              <a:t>Baseline Models: Linear Regression &amp; 2-Layer MLP</a:t>
            </a:r>
          </a:p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95A2F-75A3-0083-56AD-4851166F56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3899" y="3873750"/>
                <a:ext cx="11060991" cy="2508000"/>
              </a:xfrm>
            </p:spPr>
            <p:txBody>
              <a:bodyPr/>
              <a:lstStyle/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>
                    <a:latin typeface="Arial"/>
                    <a:cs typeface="Arial"/>
                  </a:rPr>
                  <a:t>Preprocessing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>
                    <a:latin typeface="Arial"/>
                    <a:cs typeface="Arial"/>
                  </a:rPr>
                  <a:t>Per-design AST structural features combined with numeric and one-hot encoded synthesis recipe features</a:t>
                </a:r>
              </a:p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Model Architecture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>
                    <a:latin typeface="Arial"/>
                    <a:cs typeface="Arial"/>
                  </a:rPr>
                  <a:t>Separate models for WNS and TNS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>
                    <a:latin typeface="Arial"/>
                    <a:cs typeface="Arial"/>
                  </a:rPr>
                  <a:t>Linear Regression </a:t>
                </a:r>
                <a:r>
                  <a:rPr lang="en-US" sz="1600" dirty="0">
                    <a:latin typeface="Arial"/>
                    <a:cs typeface="Arial"/>
                  </a:rPr>
                  <a:t>– single linear layer, Adam optimizer, LR 0.01, 300 epochs (tuned hyperparameters)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>
                    <a:latin typeface="Arial"/>
                    <a:cs typeface="Arial"/>
                  </a:rPr>
                  <a:t>MLP – </a:t>
                </a:r>
                <a:r>
                  <a:rPr lang="en-US" sz="1600" dirty="0">
                    <a:latin typeface="Arial"/>
                    <a:cs typeface="Arial"/>
                  </a:rPr>
                  <a:t>2 hidden layers (64, 32) + 1 linear output layer, Adam, LR 0.001, weight decay 1e-4, 400 epochs</a:t>
                </a:r>
              </a:p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>
                    <a:latin typeface="Arial"/>
                    <a:cs typeface="Arial"/>
                  </a:rPr>
                  <a:t>Training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>
                    <a:latin typeface="Arial"/>
                    <a:cs typeface="Arial"/>
                  </a:rPr>
                  <a:t>5-fold </a:t>
                </a:r>
                <a:r>
                  <a:rPr lang="en-US" sz="1600" dirty="0" err="1">
                    <a:latin typeface="Arial"/>
                    <a:cs typeface="Arial"/>
                  </a:rPr>
                  <a:t>GroupKFold</a:t>
                </a:r>
                <a:r>
                  <a:rPr lang="en-US" sz="1600" dirty="0">
                    <a:latin typeface="Arial"/>
                    <a:cs typeface="Arial"/>
                  </a:rPr>
                  <a:t> split by design name</a:t>
                </a:r>
                <a:endParaRPr lang="en-US" sz="1600" b="1" dirty="0">
                  <a:latin typeface="Arial"/>
                  <a:cs typeface="Arial"/>
                </a:endParaRP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>
                    <a:latin typeface="Arial"/>
                    <a:cs typeface="Arial"/>
                  </a:rPr>
                  <a:t>MSE Loss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ℳ𝒮ℰ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6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95A2F-75A3-0083-56AD-4851166F5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899" y="3873750"/>
                <a:ext cx="11060991" cy="2508000"/>
              </a:xfrm>
              <a:blipFill>
                <a:blip r:embed="rId4"/>
                <a:stretch>
                  <a:fillRect l="-689" t="-2010" b="-31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F5960D-3D3B-CD00-27D3-50812079B51B}"/>
                  </a:ext>
                </a:extLst>
              </p:cNvPr>
              <p:cNvSpPr txBox="1"/>
              <p:nvPr/>
            </p:nvSpPr>
            <p:spPr>
              <a:xfrm>
                <a:off x="4176595" y="3669241"/>
                <a:ext cx="4041298" cy="246221"/>
              </a:xfrm>
              <a:prstGeom prst="rect">
                <a:avLst/>
              </a:prstGeom>
            </p:spPr>
            <p:txBody>
              <a:bodyPr wrap="none" lIns="0" tIns="0" rIns="0" bIns="0" rtlCol="0" anchor="t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ReLU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F5960D-3D3B-CD00-27D3-50812079B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595" y="3669241"/>
                <a:ext cx="4041298" cy="246221"/>
              </a:xfrm>
              <a:prstGeom prst="rect">
                <a:avLst/>
              </a:prstGeom>
              <a:blipFill>
                <a:blip r:embed="rId5"/>
                <a:stretch>
                  <a:fillRect l="-603" t="-17500" r="-1207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715086-4BA5-2362-C4BA-48839F3A3415}"/>
                  </a:ext>
                </a:extLst>
              </p:cNvPr>
              <p:cNvSpPr txBox="1"/>
              <p:nvPr/>
            </p:nvSpPr>
            <p:spPr>
              <a:xfrm>
                <a:off x="5639495" y="1581979"/>
                <a:ext cx="1115497" cy="246221"/>
              </a:xfrm>
              <a:prstGeom prst="rect">
                <a:avLst/>
              </a:prstGeom>
            </p:spPr>
            <p:txBody>
              <a:bodyPr wrap="none" lIns="0" tIns="0" rIns="0" bIns="0" rtlCol="0" anchor="t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715086-4BA5-2362-C4BA-48839F3A3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495" y="1581979"/>
                <a:ext cx="1115497" cy="246221"/>
              </a:xfrm>
              <a:prstGeom prst="rect">
                <a:avLst/>
              </a:prstGeom>
              <a:blipFill>
                <a:blip r:embed="rId6"/>
                <a:stretch>
                  <a:fillRect l="-3825" t="-17500" r="-3279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59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2DB8-D302-71B9-33ED-A61EB398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9BB6-2AE9-321F-5219-8E321BA86A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8667" y="319414"/>
            <a:ext cx="10744200" cy="420687"/>
          </a:xfrm>
        </p:spPr>
        <p:txBody>
          <a:bodyPr/>
          <a:lstStyle/>
          <a:p>
            <a:r>
              <a:rPr lang="en-US" b="0">
                <a:latin typeface="Arial Black"/>
              </a:rPr>
              <a:t>Graph Prediction Model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8A2EBD-16B6-0E39-BF8C-4E295B6E14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667" y="950663"/>
            <a:ext cx="7996612" cy="25462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600" err="1"/>
              <a:t>QoRNet’s</a:t>
            </a:r>
            <a:r>
              <a:rPr lang="en-US" sz="1600"/>
              <a:t> GNN model is based on the Graph Attention Network (GAT) from [4]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Message passing network that adds attention weights between a node and its neighbors</a:t>
            </a:r>
          </a:p>
          <a:p>
            <a:pPr>
              <a:lnSpc>
                <a:spcPct val="100000"/>
              </a:lnSpc>
            </a:pPr>
            <a:r>
              <a:rPr lang="en-US" sz="1600"/>
              <a:t>GAT is configured to perform graph-level regression</a:t>
            </a:r>
          </a:p>
          <a:p>
            <a:pPr>
              <a:lnSpc>
                <a:spcPct val="100000"/>
              </a:lnSpc>
            </a:pPr>
            <a:r>
              <a:rPr lang="en-US" sz="1600"/>
              <a:t>A pooling layer aggregates the embeddings of each node into one global embedding</a:t>
            </a:r>
          </a:p>
          <a:p>
            <a:pPr>
              <a:lnSpc>
                <a:spcPct val="100000"/>
              </a:lnSpc>
            </a:pPr>
            <a:r>
              <a:rPr lang="en-US" sz="1600"/>
              <a:t>Two FC layers use the global embedding to predict the regression target (WNS/TNS)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6FE3D0-03FD-02A0-24DF-172CB5513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058" y="3707500"/>
            <a:ext cx="4431459" cy="89634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BFF16C-8EB2-9833-D21D-F82E34D91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386477"/>
              </p:ext>
            </p:extLst>
          </p:nvPr>
        </p:nvGraphicFramePr>
        <p:xfrm>
          <a:off x="8335279" y="692778"/>
          <a:ext cx="3518053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263">
                  <a:extLst>
                    <a:ext uri="{9D8B030D-6E8A-4147-A177-3AD203B41FA5}">
                      <a16:colId xmlns:a16="http://schemas.microsoft.com/office/drawing/2014/main" val="1362580742"/>
                    </a:ext>
                  </a:extLst>
                </a:gridCol>
                <a:gridCol w="1843790">
                  <a:extLst>
                    <a:ext uri="{9D8B030D-6E8A-4147-A177-3AD203B41FA5}">
                      <a16:colId xmlns:a16="http://schemas.microsoft.com/office/drawing/2014/main" val="1163566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673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23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 (early stopping)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05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02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/>
                        <a:t>ReLU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644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352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SmoothL1Loss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72523"/>
                  </a:ext>
                </a:extLst>
              </a:tr>
            </a:tbl>
          </a:graphicData>
        </a:graphic>
      </p:graphicFrame>
      <p:pic>
        <p:nvPicPr>
          <p:cNvPr id="1030" name="Picture 6">
            <a:extLst>
              <a:ext uri="{FF2B5EF4-FFF2-40B4-BE49-F238E27FC236}">
                <a16:creationId xmlns:a16="http://schemas.microsoft.com/office/drawing/2014/main" id="{0A2DEDDA-6D20-ECE2-A1B1-8BDFD77E2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08" y="3155940"/>
            <a:ext cx="10049517" cy="347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82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26F11D-81BD-0A13-B1DD-CA28133D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F46F-8E6C-476F-389B-76567EFA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Recipe Improvement Ranker: Recommending Better </a:t>
            </a:r>
            <a:r>
              <a:rPr lang="en-US" b="0" err="1"/>
              <a:t>OpenROAD</a:t>
            </a:r>
            <a:r>
              <a:rPr lang="en-US" b="0"/>
              <a:t> Recipes</a:t>
            </a:r>
            <a:endParaRPr lang="en-US" b="0">
              <a:latin typeface="Arial Black"/>
            </a:endParaRPr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DDCA14-AF51-E491-77C4-B3CD7C1897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3899" y="2260600"/>
                <a:ext cx="6045201" cy="4121150"/>
              </a:xfrm>
            </p:spPr>
            <p:txBody>
              <a:bodyPr/>
              <a:lstStyle/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>
                    <a:latin typeface="Arial"/>
                    <a:cs typeface="Arial"/>
                  </a:rPr>
                  <a:t>Goal – </a:t>
                </a:r>
                <a:r>
                  <a:rPr lang="en-US" sz="1600">
                    <a:latin typeface="Arial"/>
                    <a:cs typeface="Arial"/>
                  </a:rPr>
                  <a:t>How will changes to my design’s synthesis recipe impact WNS and TNS? What is the optimal recipe?</a:t>
                </a:r>
              </a:p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>
                    <a:latin typeface="Arial"/>
                    <a:cs typeface="Arial"/>
                  </a:rPr>
                  <a:t>Preprocessing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>
                    <a:latin typeface="Arial"/>
                    <a:cs typeface="Arial"/>
                  </a:rPr>
                  <a:t>Combine AST features, source synthesis recipe, post synthesis results, target recipe features</a:t>
                </a:r>
              </a:p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/>
                  <a:t>Model Architecture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/>
                  <a:t>Each sample is a source-target recipe pair for the same design</a:t>
                </a:r>
                <a:endParaRPr lang="en-US" sz="1400" b="1"/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>
                    <a:latin typeface="Arial"/>
                    <a:cs typeface="Arial"/>
                  </a:rPr>
                  <a:t>Targets are ΔWNS &amp; ΔTNS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>
                    <a:latin typeface="Arial"/>
                    <a:cs typeface="Arial"/>
                  </a:rPr>
                  <a:t>MLP – </a:t>
                </a:r>
                <a:r>
                  <a:rPr lang="en-US" sz="1600">
                    <a:latin typeface="Arial"/>
                    <a:cs typeface="Arial"/>
                  </a:rPr>
                  <a:t>2 hidden layers (64, 32) + 1 linear output layer, Adam, LR 0.001, weight decay 1e-4, 400 epochs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sz="1600">
                        <a:latin typeface="Cambria Math" panose="02040503050406030204" pitchFamily="18" charset="0"/>
                      </a:rPr>
                      <m:t>ReLU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ReLU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>
                  <a:latin typeface="Arial"/>
                  <a:cs typeface="Arial"/>
                </a:endParaRPr>
              </a:p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>
                    <a:latin typeface="Arial"/>
                    <a:cs typeface="Arial"/>
                  </a:rPr>
                  <a:t>Training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>
                    <a:latin typeface="Arial"/>
                    <a:cs typeface="Arial"/>
                  </a:rPr>
                  <a:t>5-fold </a:t>
                </a:r>
                <a:r>
                  <a:rPr lang="en-US" sz="1600" err="1">
                    <a:latin typeface="Arial"/>
                    <a:cs typeface="Arial"/>
                  </a:rPr>
                  <a:t>GroupKFold</a:t>
                </a:r>
                <a:r>
                  <a:rPr lang="en-US" sz="1600">
                    <a:latin typeface="Arial"/>
                    <a:cs typeface="Arial"/>
                  </a:rPr>
                  <a:t> split by design name</a:t>
                </a:r>
                <a:endParaRPr lang="en-US" sz="1600" b="1">
                  <a:latin typeface="Arial"/>
                  <a:cs typeface="Arial"/>
                </a:endParaRP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>
                    <a:latin typeface="Arial"/>
                    <a:cs typeface="Arial"/>
                  </a:rPr>
                  <a:t>MSE Loss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ℳ𝒮ℰ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16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DDCA14-AF51-E491-77C4-B3CD7C189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3899" y="2260600"/>
                <a:ext cx="6045201" cy="4121150"/>
              </a:xfrm>
              <a:blipFill>
                <a:blip r:embed="rId3"/>
                <a:stretch>
                  <a:fillRect l="-1110" t="-1627" r="-2220" b="-15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95ABC9F-7782-18D4-D398-57F5A3CFB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005" y="1828200"/>
            <a:ext cx="4804535" cy="41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7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2356-5C9D-F0C3-BF2F-842AB76A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82E8-8F73-FD13-6B7F-0B2CE2A286A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5122" y="-160738"/>
            <a:ext cx="10744200" cy="1104900"/>
          </a:xfrm>
        </p:spPr>
        <p:txBody>
          <a:bodyPr/>
          <a:lstStyle/>
          <a:p>
            <a:r>
              <a:rPr lang="en-US"/>
              <a:t>Experimental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565B2E-37D3-C360-5A85-FA2F6BB0CE8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0973218"/>
              </p:ext>
            </p:extLst>
          </p:nvPr>
        </p:nvGraphicFramePr>
        <p:xfrm>
          <a:off x="6577135" y="1465099"/>
          <a:ext cx="4694377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347">
                  <a:extLst>
                    <a:ext uri="{9D8B030D-6E8A-4147-A177-3AD203B41FA5}">
                      <a16:colId xmlns:a16="http://schemas.microsoft.com/office/drawing/2014/main" val="2482768624"/>
                    </a:ext>
                  </a:extLst>
                </a:gridCol>
                <a:gridCol w="1296537">
                  <a:extLst>
                    <a:ext uri="{9D8B030D-6E8A-4147-A177-3AD203B41FA5}">
                      <a16:colId xmlns:a16="http://schemas.microsoft.com/office/drawing/2014/main" val="174893421"/>
                    </a:ext>
                  </a:extLst>
                </a:gridCol>
                <a:gridCol w="1241493">
                  <a:extLst>
                    <a:ext uri="{9D8B030D-6E8A-4147-A177-3AD203B41FA5}">
                      <a16:colId xmlns:a16="http://schemas.microsoft.com/office/drawing/2014/main" val="2988651479"/>
                    </a:ext>
                  </a:extLst>
                </a:gridCol>
              </a:tblGrid>
              <a:tr h="116978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Dataset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Circuit 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>
                          <a:solidFill>
                            <a:schemeClr val="tx1"/>
                          </a:solidFill>
                        </a:rPr>
                        <a:t>FloPoCo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377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Total # of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664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Recipes per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819327"/>
                  </a:ext>
                </a:extLst>
              </a:tr>
              <a:tr h="163371">
                <a:tc>
                  <a:txBody>
                    <a:bodyPr/>
                    <a:lstStyle/>
                    <a:p>
                      <a:r>
                        <a:rPr lang="en-US" sz="1400"/>
                        <a:t>Training/test split (80%)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28 /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400 /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567531"/>
                  </a:ext>
                </a:extLst>
              </a:tr>
              <a:tr h="122731">
                <a:tc>
                  <a:txBody>
                    <a:bodyPr/>
                    <a:lstStyle/>
                    <a:p>
                      <a:r>
                        <a:rPr lang="en-US" sz="1400"/>
                        <a:t>Average # of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043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Average # of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4486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350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5C241D-3344-3D7C-0B65-1A45ED8B9DED}"/>
                  </a:ext>
                </a:extLst>
              </p:cNvPr>
              <p:cNvSpPr txBox="1"/>
              <p:nvPr/>
            </p:nvSpPr>
            <p:spPr>
              <a:xfrm>
                <a:off x="355122" y="1215156"/>
                <a:ext cx="5366124" cy="5173276"/>
              </a:xfrm>
              <a:prstGeom prst="rect">
                <a:avLst/>
              </a:prstGeom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Designs used for training taken from IWLS ‘05 [5], </a:t>
                </a:r>
                <a:r>
                  <a:rPr lang="en-US" sz="1600" dirty="0" err="1"/>
                  <a:t>OpenCores</a:t>
                </a:r>
                <a:r>
                  <a:rPr lang="en-US" sz="1600" dirty="0"/>
                  <a:t> [6], and ISCAS ‘89 benchmarks [7]</a:t>
                </a:r>
              </a:p>
              <a:p>
                <a:pPr marL="285750" indent="-285750" algn="l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To synthetically create more data, we follow [3] and sweep a set of recipes used during implementation </a:t>
                </a:r>
              </a:p>
              <a:p>
                <a:pPr marL="742950" lvl="1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Clock period, max cell fanout, max transition capacitance, and max transition time</a:t>
                </a: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Additionally used </a:t>
                </a:r>
                <a:r>
                  <a:rPr lang="en-US" sz="1600" dirty="0" err="1"/>
                  <a:t>FloPoCo</a:t>
                </a:r>
                <a:r>
                  <a:rPr lang="en-US" sz="1600" dirty="0"/>
                  <a:t> [9], an RTL generator, to produce a set of unique </a:t>
                </a:r>
                <a:r>
                  <a:rPr lang="en-US" sz="1600" dirty="0" err="1"/>
                  <a:t>datapath</a:t>
                </a:r>
                <a:r>
                  <a:rPr lang="en-US" sz="1600" dirty="0"/>
                  <a:t>-oriented RTL designs</a:t>
                </a: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Prediction accuracy is evaluated using Mean Average Error (MAE)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coefficient of determination</a:t>
                </a: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𝑝𝑟𝑒𝑑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 dirty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𝑔𝑡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𝑔𝑡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 dirty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16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60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dirty="0" err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𝑔𝑡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Perfect prediction: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sz="1600" dirty="0"/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Predicting the mean value of the dataset: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=0.0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Hyperparameter selection is initially derived from existing research, then tuned per-model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5C241D-3344-3D7C-0B65-1A45ED8B9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22" y="1215156"/>
                <a:ext cx="5366124" cy="5173276"/>
              </a:xfrm>
              <a:prstGeom prst="rect">
                <a:avLst/>
              </a:prstGeom>
              <a:blipFill>
                <a:blip r:embed="rId3"/>
                <a:stretch>
                  <a:fillRect l="-2157" t="-1178" b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7038C646-A65F-4FA7-BAA6-CF0901C712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3988185"/>
              </p:ext>
            </p:extLst>
          </p:nvPr>
        </p:nvGraphicFramePr>
        <p:xfrm>
          <a:off x="5892173" y="3801794"/>
          <a:ext cx="6064303" cy="2180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674">
                  <a:extLst>
                    <a:ext uri="{9D8B030D-6E8A-4147-A177-3AD203B41FA5}">
                      <a16:colId xmlns:a16="http://schemas.microsoft.com/office/drawing/2014/main" val="2203640681"/>
                    </a:ext>
                  </a:extLst>
                </a:gridCol>
                <a:gridCol w="1132115">
                  <a:extLst>
                    <a:ext uri="{9D8B030D-6E8A-4147-A177-3AD203B41FA5}">
                      <a16:colId xmlns:a16="http://schemas.microsoft.com/office/drawing/2014/main" val="2482768624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174893421"/>
                    </a:ext>
                  </a:extLst>
                </a:gridCol>
                <a:gridCol w="1175249">
                  <a:extLst>
                    <a:ext uri="{9D8B030D-6E8A-4147-A177-3AD203B41FA5}">
                      <a16:colId xmlns:a16="http://schemas.microsoft.com/office/drawing/2014/main" val="1576920789"/>
                    </a:ext>
                  </a:extLst>
                </a:gridCol>
                <a:gridCol w="1263151">
                  <a:extLst>
                    <a:ext uri="{9D8B030D-6E8A-4147-A177-3AD203B41FA5}">
                      <a16:colId xmlns:a16="http://schemas.microsoft.com/office/drawing/2014/main" val="1794707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Dataset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GNN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Linear Regression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MLP 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377281"/>
                  </a:ext>
                </a:extLst>
              </a:tr>
              <a:tr h="412575">
                <a:tc>
                  <a:txBody>
                    <a:bodyPr/>
                    <a:lstStyle/>
                    <a:p>
                      <a:r>
                        <a:rPr lang="en-US" sz="1400"/>
                        <a:t>Workload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CPU-Based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GPU-Based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GPU-Based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GPU-Based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664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Intel Xeon (Stokes)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T4 GPU (Colab)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T100 GPU (Colab)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T100 GPU (Colab)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81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~24hr (final dataset)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~30min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~10min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~20min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56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38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9549-469E-1EEB-B687-F1BC263D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95A2F-75A3-0083-56AD-4851166F565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307975" y="881567"/>
                <a:ext cx="6202007" cy="5540004"/>
              </a:xfrm>
            </p:spPr>
            <p:txBody>
              <a:bodyPr/>
              <a:lstStyle/>
              <a:p>
                <a:pPr marL="331470" indent="-28575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Timing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Full prediction pipeline runs in </a:t>
                </a:r>
                <a:r>
                  <a:rPr lang="en-US" sz="1600" b="1" dirty="0"/>
                  <a:t>&lt;10s </a:t>
                </a:r>
                <a:r>
                  <a:rPr lang="en-US" sz="1600" dirty="0"/>
                  <a:t>compared to 10+ minutes for full synthesis + implementation</a:t>
                </a:r>
              </a:p>
              <a:p>
                <a:pPr marL="331470" indent="-28575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Prediction Accuracy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WNS – </a:t>
                </a:r>
                <a:r>
                  <a:rPr lang="en-US" sz="1600" dirty="0"/>
                  <a:t>MLP slightly outperforms other models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b="1" dirty="0"/>
                  <a:t> of 91%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TNS – </a:t>
                </a:r>
                <a:r>
                  <a:rPr lang="en-US" sz="1600" dirty="0"/>
                  <a:t>MLP vastly outperforms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600" b="1" dirty="0"/>
                  <a:t> of 70%</a:t>
                </a:r>
              </a:p>
              <a:p>
                <a:pPr marL="331470" indent="-28575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 dirty="0"/>
                  <a:t>Analysis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metrics in-line with existing research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Linear models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RTL-WNS relationship mostly linear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TNS harder to model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Graph Attention Network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Struggles with larger designs, identified via cross-fold analysis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Combination of mean + max pooling needed to balance tradeoffs</a:t>
                </a:r>
              </a:p>
              <a:p>
                <a:pPr lvl="3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dirty="0"/>
                  <a:t>Max overfits, mean averages too much, sum fails to converge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195A2F-75A3-0083-56AD-4851166F5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307975" y="881567"/>
                <a:ext cx="6202007" cy="5540004"/>
              </a:xfrm>
              <a:blipFill>
                <a:blip r:embed="rId3"/>
                <a:stretch>
                  <a:fillRect l="-1227" t="-1144" r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BA794DA-ACBB-97DC-5D80-0243D4F0A1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7975" y="-346454"/>
            <a:ext cx="10744200" cy="1104900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DD28A64-FC13-6149-B344-4523AF5D4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817401"/>
                  </p:ext>
                </p:extLst>
              </p:nvPr>
            </p:nvGraphicFramePr>
            <p:xfrm>
              <a:off x="13629470" y="6090029"/>
              <a:ext cx="5041900" cy="914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927926">
                      <a:extLst>
                        <a:ext uri="{9D8B030D-6E8A-4147-A177-3AD203B41FA5}">
                          <a16:colId xmlns:a16="http://schemas.microsoft.com/office/drawing/2014/main" val="2566089062"/>
                        </a:ext>
                      </a:extLst>
                    </a:gridCol>
                    <a:gridCol w="940689">
                      <a:extLst>
                        <a:ext uri="{9D8B030D-6E8A-4147-A177-3AD203B41FA5}">
                          <a16:colId xmlns:a16="http://schemas.microsoft.com/office/drawing/2014/main" val="59160932"/>
                        </a:ext>
                      </a:extLst>
                    </a:gridCol>
                    <a:gridCol w="1007935">
                      <a:extLst>
                        <a:ext uri="{9D8B030D-6E8A-4147-A177-3AD203B41FA5}">
                          <a16:colId xmlns:a16="http://schemas.microsoft.com/office/drawing/2014/main" val="752332726"/>
                        </a:ext>
                      </a:extLst>
                    </a:gridCol>
                    <a:gridCol w="1244600">
                      <a:extLst>
                        <a:ext uri="{9D8B030D-6E8A-4147-A177-3AD203B41FA5}">
                          <a16:colId xmlns:a16="http://schemas.microsoft.com/office/drawing/2014/main" val="2136726179"/>
                        </a:ext>
                      </a:extLst>
                    </a:gridCol>
                    <a:gridCol w="920750">
                      <a:extLst>
                        <a:ext uri="{9D8B030D-6E8A-4147-A177-3AD203B41FA5}">
                          <a16:colId xmlns:a16="http://schemas.microsoft.com/office/drawing/2014/main" val="259708216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400" b="1" i="0" kern="1200">
                              <a:solidFill>
                                <a:srgbClr val="FDFDFD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Target</a:t>
                          </a:r>
                          <a:endParaRPr lang="en-US" sz="1400" b="1">
                            <a:solidFill>
                              <a:srgbClr val="FDFDFD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i="0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MLP 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ar-AE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ar-AE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400" b="1">
                            <a:solidFill>
                              <a:srgbClr val="BFBFB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b="1" i="0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MLP 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ar-AE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ar-AE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400" b="1">
                            <a:solidFill>
                              <a:srgbClr val="BFBFBF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b="1">
                              <a:solidFill>
                                <a:srgbClr val="FDFDFD"/>
                              </a:solidFill>
                              <a:effectLst/>
                              <a:latin typeface="+mn-lt"/>
                            </a:rPr>
                            <a:t>Linear 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i="0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MLP </a:t>
                          </a:r>
                          <a:r>
                            <a:rPr lang="en-US" sz="1400" b="1">
                              <a:solidFill>
                                <a:srgbClr val="FDFDFD"/>
                              </a:solidFill>
                              <a:effectLst/>
                              <a:latin typeface="+mn-lt"/>
                            </a:rPr>
                            <a:t>MAE</a:t>
                          </a:r>
                        </a:p>
                      </a:txBody>
                      <a:tcPr marL="38100" marR="3810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6140548"/>
                      </a:ext>
                    </a:extLst>
                  </a:tr>
                  <a:tr h="209974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latin typeface="+mn-lt"/>
                            </a:rPr>
                            <a:t>WNS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0.8199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0.8422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0.1342 ns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0.1173 ns</a:t>
                          </a:r>
                        </a:p>
                      </a:txBody>
                      <a:tcPr marL="38100" marR="3810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64913157"/>
                      </a:ext>
                    </a:extLst>
                  </a:tr>
                  <a:tr h="16189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latin typeface="+mn-lt"/>
                            </a:rPr>
                            <a:t>TNS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0.1252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0.8695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19.4483 ns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8.0088 ns</a:t>
                          </a:r>
                        </a:p>
                      </a:txBody>
                      <a:tcPr marL="38100" marR="3810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801650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DD28A64-FC13-6149-B344-4523AF5D4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817401"/>
                  </p:ext>
                </p:extLst>
              </p:nvPr>
            </p:nvGraphicFramePr>
            <p:xfrm>
              <a:off x="13629470" y="6090029"/>
              <a:ext cx="5041900" cy="914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927926">
                      <a:extLst>
                        <a:ext uri="{9D8B030D-6E8A-4147-A177-3AD203B41FA5}">
                          <a16:colId xmlns:a16="http://schemas.microsoft.com/office/drawing/2014/main" val="2566089062"/>
                        </a:ext>
                      </a:extLst>
                    </a:gridCol>
                    <a:gridCol w="940689">
                      <a:extLst>
                        <a:ext uri="{9D8B030D-6E8A-4147-A177-3AD203B41FA5}">
                          <a16:colId xmlns:a16="http://schemas.microsoft.com/office/drawing/2014/main" val="59160932"/>
                        </a:ext>
                      </a:extLst>
                    </a:gridCol>
                    <a:gridCol w="1007935">
                      <a:extLst>
                        <a:ext uri="{9D8B030D-6E8A-4147-A177-3AD203B41FA5}">
                          <a16:colId xmlns:a16="http://schemas.microsoft.com/office/drawing/2014/main" val="752332726"/>
                        </a:ext>
                      </a:extLst>
                    </a:gridCol>
                    <a:gridCol w="1244600">
                      <a:extLst>
                        <a:ext uri="{9D8B030D-6E8A-4147-A177-3AD203B41FA5}">
                          <a16:colId xmlns:a16="http://schemas.microsoft.com/office/drawing/2014/main" val="2136726179"/>
                        </a:ext>
                      </a:extLst>
                    </a:gridCol>
                    <a:gridCol w="920750">
                      <a:extLst>
                        <a:ext uri="{9D8B030D-6E8A-4147-A177-3AD203B41FA5}">
                          <a16:colId xmlns:a16="http://schemas.microsoft.com/office/drawing/2014/main" val="259708216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b="1" i="0" kern="1200">
                              <a:solidFill>
                                <a:srgbClr val="FDFDFD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Target</a:t>
                          </a:r>
                          <a:endParaRPr lang="en-US" sz="1400" b="1">
                            <a:solidFill>
                              <a:srgbClr val="FDFDFD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100" marR="38100" marT="38100" marB="38100" anchor="ctr">
                        <a:blipFill>
                          <a:blip r:embed="rId4"/>
                          <a:stretch>
                            <a:fillRect l="-98710" t="-4000" r="-339355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100" marR="38100" marT="38100" marB="38100" anchor="ctr">
                        <a:blipFill>
                          <a:blip r:embed="rId4"/>
                          <a:stretch>
                            <a:fillRect l="-186667" t="-4000" r="-218788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b="1">
                              <a:solidFill>
                                <a:srgbClr val="FDFDFD"/>
                              </a:solidFill>
                              <a:effectLst/>
                              <a:latin typeface="+mn-lt"/>
                            </a:rPr>
                            <a:t>Linear MAE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i="0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MLP </a:t>
                          </a:r>
                          <a:r>
                            <a:rPr lang="en-US" sz="1400" b="1">
                              <a:solidFill>
                                <a:srgbClr val="FDFDFD"/>
                              </a:solidFill>
                              <a:effectLst/>
                              <a:latin typeface="+mn-lt"/>
                            </a:rPr>
                            <a:t>MAE</a:t>
                          </a:r>
                        </a:p>
                      </a:txBody>
                      <a:tcPr marL="38100" marR="3810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614054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latin typeface="+mn-lt"/>
                            </a:rPr>
                            <a:t>WNS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0.8199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0.8422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0.1342 ns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0.1173 ns</a:t>
                          </a:r>
                        </a:p>
                      </a:txBody>
                      <a:tcPr marL="38100" marR="3810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649131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b="1">
                              <a:latin typeface="+mn-lt"/>
                            </a:rPr>
                            <a:t>TNS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0.1252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0.8695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19.4483 ns</a:t>
                          </a:r>
                        </a:p>
                      </a:txBody>
                      <a:tcPr marL="38100" marR="38100" marT="38100" marB="3810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b="0">
                              <a:effectLst/>
                              <a:latin typeface="+mn-lt"/>
                            </a:rPr>
                            <a:t>8.0088 ns</a:t>
                          </a:r>
                        </a:p>
                      </a:txBody>
                      <a:tcPr marL="38100" marR="38100" marT="38100" marB="38100" anchor="ctr"/>
                    </a:tc>
                    <a:extLst>
                      <a:ext uri="{0D108BD9-81ED-4DB2-BD59-A6C34878D82A}">
                        <a16:rowId xmlns:a16="http://schemas.microsoft.com/office/drawing/2014/main" val="180165056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77945BBD-80E3-F79C-1BB8-9AF9B91A4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252" y="436429"/>
            <a:ext cx="5054773" cy="29925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F24B21-A510-453C-DD1B-82D88B581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794" y="3429000"/>
            <a:ext cx="5054773" cy="2992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ADBA3-ECE7-576C-FBF4-36C27B5B14C5}"/>
                  </a:ext>
                </a:extLst>
              </p:cNvPr>
              <p:cNvSpPr txBox="1"/>
              <p:nvPr/>
            </p:nvSpPr>
            <p:spPr>
              <a:xfrm>
                <a:off x="12719473" y="2475604"/>
                <a:ext cx="6644640" cy="3293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/>
                  <a:t>Graph Attention Network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/>
                  <a:t>Tends to struggle with larger designs (# of nodes, edges)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/>
                  <a:t>Particularly struggles on TNS (involves many node interactions)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/>
                  <a:t> scores for circuit benchmarks are in line with [3]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/>
                  <a:t>Pooling ablation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/>
                  <a:t>Mean pooling</a:t>
                </a:r>
                <a:r>
                  <a:rPr lang="en-US" sz="1600"/>
                  <a:t>: averages aways high importance paths, weak convergence on WNS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/>
                  <a:t>Max pooling</a:t>
                </a:r>
                <a:r>
                  <a:rPr lang="en-US" sz="1600"/>
                  <a:t>: overfits immediately, test loss diverges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 b="1"/>
                  <a:t>Sum pooling</a:t>
                </a:r>
                <a:r>
                  <a:rPr lang="en-US" sz="1600"/>
                  <a:t>: causes dominated by large graphs, produces extremely negative R^2 that fails to converge</a:t>
                </a:r>
              </a:p>
              <a:p>
                <a:pPr lvl="2" indent="-182880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en-US" sz="1600"/>
                  <a:t>Combination of mean + max pooling + graph dimensionality greatly improved test accuracy</a:t>
                </a:r>
              </a:p>
              <a:p>
                <a:pPr lvl="1" indent="-182880">
                  <a:lnSpc>
                    <a:spcPct val="100000"/>
                  </a:lnSpc>
                  <a:spcAft>
                    <a:spcPts val="0"/>
                  </a:spcAft>
                </a:pPr>
                <a:endParaRPr lang="en-US" sz="16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ADBA3-ECE7-576C-FBF4-36C27B5B1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9473" y="2475604"/>
                <a:ext cx="6644640" cy="3293209"/>
              </a:xfrm>
              <a:prstGeom prst="rect">
                <a:avLst/>
              </a:prstGeom>
              <a:blipFill>
                <a:blip r:embed="rId7"/>
                <a:stretch>
                  <a:fillRect l="-550" t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5394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C79113-4D42-7BDF-04A4-22AB587D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EB91-D8DB-C0F9-E386-11A05CC6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and Path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BE38E-82BB-2AA0-5A87-3C03DEFC5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4311650" cy="3958280"/>
          </a:xfrm>
        </p:spPr>
        <p:txBody>
          <a:bodyPr/>
          <a:lstStyle/>
          <a:p>
            <a:pPr indent="-182880">
              <a:lnSpc>
                <a:spcPct val="100000"/>
              </a:lnSpc>
              <a:spcAft>
                <a:spcPts val="0"/>
              </a:spcAft>
            </a:pPr>
            <a:r>
              <a:rPr lang="en-US" sz="1600" b="1"/>
              <a:t>Challenges</a:t>
            </a:r>
          </a:p>
          <a:p>
            <a:pPr lvl="1" indent="-182880">
              <a:lnSpc>
                <a:spcPct val="100000"/>
              </a:lnSpc>
              <a:spcAft>
                <a:spcPts val="0"/>
              </a:spcAft>
            </a:pPr>
            <a:r>
              <a:rPr lang="en-US" sz="1600"/>
              <a:t>Lack of and difficulty obtaining data</a:t>
            </a:r>
          </a:p>
          <a:p>
            <a:pPr lvl="1" indent="-182880">
              <a:lnSpc>
                <a:spcPct val="100000"/>
              </a:lnSpc>
              <a:spcAft>
                <a:spcPts val="0"/>
              </a:spcAft>
            </a:pPr>
            <a:r>
              <a:rPr lang="en-US" sz="1600"/>
              <a:t>Extracting complex RTL features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921B3F-CF0E-0BD5-59C5-C1F07DD47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965" y="2137720"/>
            <a:ext cx="6367135" cy="357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97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E7480-E47B-AD25-4F8D-145438F9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BCB6-58C1-B59D-4FF6-379179F800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8303" y="-185604"/>
            <a:ext cx="10744200" cy="1104900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C3DC3C-1E75-1F21-1CDE-7F2868289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8661715"/>
              </p:ext>
            </p:extLst>
          </p:nvPr>
        </p:nvGraphicFramePr>
        <p:xfrm>
          <a:off x="978431" y="919296"/>
          <a:ext cx="10235137" cy="5291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810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F08C-7D93-CEE4-7153-76E87CFF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2A0E-FBB2-5812-EB15-9ADC5CCC5E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37B06DE-9B75-1CCE-2595-AB7D7E7C70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HuggingFace 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90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691752-4C61-4174-9894-58A04CBA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18FF2A-A92C-66BC-459A-184B6315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Chowdhury, Tan, Karri, and Garg, “</a:t>
            </a:r>
            <a:r>
              <a:rPr lang="en-US" sz="1200" err="1"/>
              <a:t>OpenABC</a:t>
            </a:r>
            <a:r>
              <a:rPr lang="en-US" sz="1200"/>
              <a:t>-D: A Large-Scale Dataset For Machine Learning Guided Integrated Circuit Synthesis”, </a:t>
            </a:r>
            <a:r>
              <a:rPr lang="en-US" sz="1200" err="1"/>
              <a:t>arXiv</a:t>
            </a:r>
            <a:r>
              <a:rPr lang="en-US" sz="1200"/>
              <a:t>, 2021.</a:t>
            </a:r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C. Xu, C. </a:t>
            </a:r>
            <a:r>
              <a:rPr lang="en-US" sz="1200" err="1"/>
              <a:t>Kjellqvist</a:t>
            </a:r>
            <a:r>
              <a:rPr lang="en-US" sz="1200"/>
              <a:t>, L. Wills, “SNS's not a synthesizer: a deep-learning-based synthesis predictor,” ISCA, 2022.</a:t>
            </a:r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P. Sengupta, A. Tyagi, Y. Chen and J. Hu, "How Good Is Your Verilog RTL Code? A Quick Answer from Machine Learning," 2022 IEEE/ACM International Conference On Computer Aided Design (ICCAD), San Diego, CA, USA, 2022, pp. 1-9. </a:t>
            </a:r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Brody, S., Alon, U., and Yahav, E. How attentive are graph attention networks?, 2022. URL https://</a:t>
            </a:r>
            <a:r>
              <a:rPr lang="en-US" sz="1200" err="1"/>
              <a:t>arxiv.org</a:t>
            </a:r>
            <a:r>
              <a:rPr lang="en-US" sz="1200"/>
              <a:t>/abs/2105.14491.</a:t>
            </a:r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Albrecht, C. </a:t>
            </a:r>
            <a:r>
              <a:rPr lang="en-US" sz="1200" err="1"/>
              <a:t>Iwls</a:t>
            </a:r>
            <a:r>
              <a:rPr lang="en-US" sz="1200"/>
              <a:t> 2005 benchmarks. In International Workshop for Logic Synthesis (IWLS). IEEE, 2005.</a:t>
            </a:r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 err="1"/>
              <a:t>Opencores</a:t>
            </a:r>
            <a:r>
              <a:rPr lang="en-US" sz="1200"/>
              <a:t>. URL </a:t>
            </a:r>
            <a:r>
              <a:rPr lang="en-US" sz="1200">
                <a:hlinkClick r:id="rId2"/>
              </a:rPr>
              <a:t>https://opencores.com/</a:t>
            </a:r>
            <a:r>
              <a:rPr lang="en-US" sz="1200"/>
              <a:t>.</a:t>
            </a:r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S. </a:t>
            </a:r>
            <a:r>
              <a:rPr lang="en-US" sz="1200" err="1"/>
              <a:t>Kajihara</a:t>
            </a:r>
            <a:r>
              <a:rPr lang="en-US" sz="1200"/>
              <a:t>, K. Kinoshita, I. Pomeranz and S. M. Reddy, "</a:t>
            </a:r>
            <a:r>
              <a:rPr lang="en-US" sz="1200" err="1"/>
              <a:t>Combinationally</a:t>
            </a:r>
            <a:r>
              <a:rPr lang="en-US" sz="1200"/>
              <a:t> irredundant ISCAS-89 benchmark circuits," </a:t>
            </a:r>
            <a:r>
              <a:rPr lang="en-US" sz="1200" i="1"/>
              <a:t>1996 IEEE International Symposium on Circuits and Systems (ISCAS)</a:t>
            </a:r>
            <a:r>
              <a:rPr lang="en-US" sz="1200"/>
              <a:t>, Atlanta, GA, USA, 1996, pp. 632-634 vol.4, </a:t>
            </a:r>
            <a:r>
              <a:rPr lang="en-US" sz="1200" err="1"/>
              <a:t>doi</a:t>
            </a:r>
            <a:r>
              <a:rPr lang="en-US" sz="1200"/>
              <a:t>: 10.1109/ISCAS.1996.542103.</a:t>
            </a:r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Sanjay Gandham, Joe Walston, Sourav Samanta, </a:t>
            </a:r>
            <a:r>
              <a:rPr lang="en-US" sz="1200" err="1"/>
              <a:t>Lingxiang</a:t>
            </a:r>
            <a:r>
              <a:rPr lang="en-US" sz="1200"/>
              <a:t> Yin, Hao Zheng, </a:t>
            </a:r>
            <a:r>
              <a:rPr lang="en-US" sz="1200" err="1"/>
              <a:t>Mingjie</a:t>
            </a:r>
            <a:r>
              <a:rPr lang="en-US" sz="1200"/>
              <a:t> Lin, and Stelios Diamantidis. 2025. </a:t>
            </a:r>
            <a:r>
              <a:rPr lang="en-US" sz="1200" err="1"/>
              <a:t>CircuitSeer</a:t>
            </a:r>
            <a:r>
              <a:rPr lang="en-US" sz="1200"/>
              <a:t>: RTL Post-</a:t>
            </a:r>
            <a:r>
              <a:rPr lang="en-US" sz="1200" err="1"/>
              <a:t>PnR</a:t>
            </a:r>
            <a:r>
              <a:rPr lang="en-US" sz="1200"/>
              <a:t> Delay Prediction via Coupling Functional and Structural Representation. In Proceedings of the 43rd IEEE/ACM International Conference on Computer-Aided Design (ICCAD '24). Association for Computing Machinery, New York, NY, USA, Article 67, 1–9. </a:t>
            </a:r>
            <a:r>
              <a:rPr lang="en-US" sz="1200">
                <a:hlinkClick r:id="rId3"/>
              </a:rPr>
              <a:t>https://doi.org/10.1145/3676536.3676668</a:t>
            </a:r>
            <a:endParaRPr lang="en-US" sz="1200"/>
          </a:p>
          <a:p>
            <a:pPr>
              <a:spcAft>
                <a:spcPts val="0"/>
              </a:spcAft>
              <a:buFont typeface="+mj-lt"/>
              <a:buAutoNum type="arabicPeriod"/>
            </a:pPr>
            <a:r>
              <a:rPr lang="en-US" sz="1200"/>
              <a:t>Florent de </a:t>
            </a:r>
            <a:r>
              <a:rPr lang="en-US" sz="1200" err="1"/>
              <a:t>Dinechin</a:t>
            </a:r>
            <a:r>
              <a:rPr lang="en-US" sz="1200"/>
              <a:t> and Bogdan Pasca. Designing custom arithmetic data paths with </a:t>
            </a:r>
            <a:r>
              <a:rPr lang="en-US" sz="1200" err="1"/>
              <a:t>FloPoCo</a:t>
            </a:r>
            <a:r>
              <a:rPr lang="en-US" sz="1200"/>
              <a:t>. </a:t>
            </a:r>
            <a:r>
              <a:rPr lang="en-US" sz="1200" i="1"/>
              <a:t>IEEE Design &amp; Test of Computers</a:t>
            </a:r>
            <a:r>
              <a:rPr lang="en-US" sz="1200"/>
              <a:t>, 28(4):18--27, July 2011.</a:t>
            </a:r>
            <a:br>
              <a:rPr lang="en-US" sz="1200"/>
            </a:b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71272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F806-83CF-2E29-3792-9564EF86B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D11F-8EA4-F019-88F2-07C5E6C2D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Thanks for Listening!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A867F75-0D83-E090-472E-D1B5CC010B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00261"/>
      </p:ext>
    </p:extLst>
  </p:cSld>
  <p:clrMapOvr>
    <a:masterClrMapping/>
  </p:clrMapOvr>
</p:sld>
</file>

<file path=ppt/theme/theme1.xml><?xml version="1.0" encoding="utf-8"?>
<a:theme xmlns:a="http://schemas.openxmlformats.org/drawingml/2006/main" name="UCF - Title, Divider, Mission Statement and Quotation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8370F7C-EE5B-DB44-A276-513E5974636B}"/>
    </a:ext>
  </a:extLst>
</a:theme>
</file>

<file path=ppt/theme/theme2.xml><?xml version="1.0" encoding="utf-8"?>
<a:theme xmlns:a="http://schemas.openxmlformats.org/drawingml/2006/main" name="UCF - Single Column Content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FC34F3D-DE4D-CA4C-9159-70E2B1979B0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UCF - Title, Divider, Mission Statement and Quotation Slides</Template>
  <TotalTime>2215</TotalTime>
  <Words>3796</Words>
  <Application>Microsoft Macintosh PowerPoint</Application>
  <PresentationFormat>Widescreen</PresentationFormat>
  <Paragraphs>518</Paragraphs>
  <Slides>17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Arial Black</vt:lpstr>
      <vt:lpstr>Cambria Math</vt:lpstr>
      <vt:lpstr>UCF - Title, Divider, Mission Statement and Quotation Slides</vt:lpstr>
      <vt:lpstr>UCF - Single Column Content Slides</vt:lpstr>
      <vt:lpstr>QoRNet: Timing Prediction for VLSI Circuits</vt:lpstr>
      <vt:lpstr>Motivation</vt:lpstr>
      <vt:lpstr>Related Work</vt:lpstr>
      <vt:lpstr>Related Work</vt:lpstr>
      <vt:lpstr>Technical Gap in Prior Work</vt:lpstr>
      <vt:lpstr>QoRNet Overview</vt:lpstr>
      <vt:lpstr>PowerPoint Presentation</vt:lpstr>
      <vt:lpstr>Baseline Models: Linear Regression &amp; 2-Layer MLP </vt:lpstr>
      <vt:lpstr>Graph Prediction Model</vt:lpstr>
      <vt:lpstr>Recipe Improvement Ranker: Recommending Better OpenROAD Recipes </vt:lpstr>
      <vt:lpstr>Experimental Setup</vt:lpstr>
      <vt:lpstr>Results</vt:lpstr>
      <vt:lpstr>Challenges and Path Forward</vt:lpstr>
      <vt:lpstr>Conclusion</vt:lpstr>
      <vt:lpstr>Demo</vt:lpstr>
      <vt:lpstr>References</vt:lpstr>
      <vt:lpstr>Thanks for Listening!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Cory Brynds</dc:creator>
  <cp:keywords/>
  <dc:description/>
  <cp:lastModifiedBy>Cory Brynds</cp:lastModifiedBy>
  <cp:revision>2</cp:revision>
  <dcterms:created xsi:type="dcterms:W3CDTF">2026-03-26T15:32:58Z</dcterms:created>
  <dcterms:modified xsi:type="dcterms:W3CDTF">2026-04-21T16:58:27Z</dcterms:modified>
  <cp:category/>
</cp:coreProperties>
</file>